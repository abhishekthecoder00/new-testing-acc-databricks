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9EF6C8-B30C-456D-B923-615EF8C050CC}" v="4" dt="2026-08-27T06:44:05.1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2" d="100"/>
          <a:sy n="92" d="100"/>
        </p:scale>
        <p:origin x="312" y="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an Narode" userId="e08c5a8f-2405-4d19-b43b-d9411d8d80f9" providerId="ADAL" clId="{B7EEF610-8729-4A97-ACFB-91EB85CA03E6}"/>
    <pc:docChg chg="undo custSel modSld sldOrd">
      <pc:chgData name="Roshan Narode" userId="e08c5a8f-2405-4d19-b43b-d9411d8d80f9" providerId="ADAL" clId="{B7EEF610-8729-4A97-ACFB-91EB85CA03E6}" dt="2026-08-27T06:44:28.657" v="103" actId="478"/>
      <pc:docMkLst>
        <pc:docMk/>
      </pc:docMkLst>
      <pc:sldChg chg="delSp modSp mod">
        <pc:chgData name="Roshan Narode" userId="e08c5a8f-2405-4d19-b43b-d9411d8d80f9" providerId="ADAL" clId="{B7EEF610-8729-4A97-ACFB-91EB85CA03E6}" dt="2026-08-27T06:41:50.896" v="58" actId="20577"/>
        <pc:sldMkLst>
          <pc:docMk/>
          <pc:sldMk cId="0" sldId="256"/>
        </pc:sldMkLst>
        <pc:spChg chg="mod">
          <ac:chgData name="Roshan Narode" userId="e08c5a8f-2405-4d19-b43b-d9411d8d80f9" providerId="ADAL" clId="{B7EEF610-8729-4A97-ACFB-91EB85CA03E6}" dt="2026-08-27T06:40:23.474" v="42" actId="1076"/>
          <ac:spMkLst>
            <pc:docMk/>
            <pc:sldMk cId="0" sldId="256"/>
            <ac:spMk id="2" creationId="{00000000-0000-0000-0000-000000000000}"/>
          </ac:spMkLst>
        </pc:spChg>
        <pc:spChg chg="mod">
          <ac:chgData name="Roshan Narode" userId="e08c5a8f-2405-4d19-b43b-d9411d8d80f9" providerId="ADAL" clId="{B7EEF610-8729-4A97-ACFB-91EB85CA03E6}" dt="2026-08-27T06:41:50.896" v="58" actId="20577"/>
          <ac:spMkLst>
            <pc:docMk/>
            <pc:sldMk cId="0" sldId="256"/>
            <ac:spMk id="3" creationId="{00000000-0000-0000-0000-000000000000}"/>
          </ac:spMkLst>
        </pc:spChg>
        <pc:spChg chg="del">
          <ac:chgData name="Roshan Narode" userId="e08c5a8f-2405-4d19-b43b-d9411d8d80f9" providerId="ADAL" clId="{B7EEF610-8729-4A97-ACFB-91EB85CA03E6}" dt="2026-08-27T06:40:27.970" v="43" actId="478"/>
          <ac:spMkLst>
            <pc:docMk/>
            <pc:sldMk cId="0" sldId="256"/>
            <ac:spMk id="4" creationId="{00000000-0000-0000-0000-000000000000}"/>
          </ac:spMkLst>
        </pc:spChg>
        <pc:spChg chg="del">
          <ac:chgData name="Roshan Narode" userId="e08c5a8f-2405-4d19-b43b-d9411d8d80f9" providerId="ADAL" clId="{B7EEF610-8729-4A97-ACFB-91EB85CA03E6}" dt="2026-08-27T06:40:31.022" v="44" actId="478"/>
          <ac:spMkLst>
            <pc:docMk/>
            <pc:sldMk cId="0" sldId="256"/>
            <ac:spMk id="5" creationId="{00000000-0000-0000-0000-000000000000}"/>
          </ac:spMkLst>
        </pc:spChg>
        <pc:spChg chg="del">
          <ac:chgData name="Roshan Narode" userId="e08c5a8f-2405-4d19-b43b-d9411d8d80f9" providerId="ADAL" clId="{B7EEF610-8729-4A97-ACFB-91EB85CA03E6}" dt="2026-08-27T06:41:13.223" v="54" actId="478"/>
          <ac:spMkLst>
            <pc:docMk/>
            <pc:sldMk cId="0" sldId="256"/>
            <ac:spMk id="6" creationId="{00000000-0000-0000-0000-000000000000}"/>
          </ac:spMkLst>
        </pc:spChg>
        <pc:spChg chg="del">
          <ac:chgData name="Roshan Narode" userId="e08c5a8f-2405-4d19-b43b-d9411d8d80f9" providerId="ADAL" clId="{B7EEF610-8729-4A97-ACFB-91EB85CA03E6}" dt="2026-08-27T06:40:38.169" v="45" actId="478"/>
          <ac:spMkLst>
            <pc:docMk/>
            <pc:sldMk cId="0" sldId="256"/>
            <ac:spMk id="7" creationId="{00000000-0000-0000-0000-000000000000}"/>
          </ac:spMkLst>
        </pc:spChg>
        <pc:spChg chg="del">
          <ac:chgData name="Roshan Narode" userId="e08c5a8f-2405-4d19-b43b-d9411d8d80f9" providerId="ADAL" clId="{B7EEF610-8729-4A97-ACFB-91EB85CA03E6}" dt="2026-08-27T06:40:49.580" v="47" actId="478"/>
          <ac:spMkLst>
            <pc:docMk/>
            <pc:sldMk cId="0" sldId="256"/>
            <ac:spMk id="8" creationId="{00000000-0000-0000-0000-000000000000}"/>
          </ac:spMkLst>
        </pc:spChg>
        <pc:spChg chg="del">
          <ac:chgData name="Roshan Narode" userId="e08c5a8f-2405-4d19-b43b-d9411d8d80f9" providerId="ADAL" clId="{B7EEF610-8729-4A97-ACFB-91EB85CA03E6}" dt="2026-08-27T06:40:52.236" v="48" actId="478"/>
          <ac:spMkLst>
            <pc:docMk/>
            <pc:sldMk cId="0" sldId="256"/>
            <ac:spMk id="9" creationId="{00000000-0000-0000-0000-000000000000}"/>
          </ac:spMkLst>
        </pc:spChg>
        <pc:spChg chg="del">
          <ac:chgData name="Roshan Narode" userId="e08c5a8f-2405-4d19-b43b-d9411d8d80f9" providerId="ADAL" clId="{B7EEF610-8729-4A97-ACFB-91EB85CA03E6}" dt="2026-08-27T06:41:09.911" v="53" actId="478"/>
          <ac:spMkLst>
            <pc:docMk/>
            <pc:sldMk cId="0" sldId="256"/>
            <ac:spMk id="10" creationId="{00000000-0000-0000-0000-000000000000}"/>
          </ac:spMkLst>
        </pc:spChg>
        <pc:spChg chg="del">
          <ac:chgData name="Roshan Narode" userId="e08c5a8f-2405-4d19-b43b-d9411d8d80f9" providerId="ADAL" clId="{B7EEF610-8729-4A97-ACFB-91EB85CA03E6}" dt="2026-08-27T06:40:46.152" v="46" actId="478"/>
          <ac:spMkLst>
            <pc:docMk/>
            <pc:sldMk cId="0" sldId="256"/>
            <ac:spMk id="11" creationId="{00000000-0000-0000-0000-000000000000}"/>
          </ac:spMkLst>
        </pc:spChg>
        <pc:spChg chg="del">
          <ac:chgData name="Roshan Narode" userId="e08c5a8f-2405-4d19-b43b-d9411d8d80f9" providerId="ADAL" clId="{B7EEF610-8729-4A97-ACFB-91EB85CA03E6}" dt="2026-08-27T06:41:05.590" v="51" actId="478"/>
          <ac:spMkLst>
            <pc:docMk/>
            <pc:sldMk cId="0" sldId="256"/>
            <ac:spMk id="12" creationId="{00000000-0000-0000-0000-000000000000}"/>
          </ac:spMkLst>
        </pc:spChg>
        <pc:spChg chg="del">
          <ac:chgData name="Roshan Narode" userId="e08c5a8f-2405-4d19-b43b-d9411d8d80f9" providerId="ADAL" clId="{B7EEF610-8729-4A97-ACFB-91EB85CA03E6}" dt="2026-08-27T06:41:07.779" v="52" actId="478"/>
          <ac:spMkLst>
            <pc:docMk/>
            <pc:sldMk cId="0" sldId="256"/>
            <ac:spMk id="13" creationId="{00000000-0000-0000-0000-000000000000}"/>
          </ac:spMkLst>
        </pc:spChg>
        <pc:spChg chg="del">
          <ac:chgData name="Roshan Narode" userId="e08c5a8f-2405-4d19-b43b-d9411d8d80f9" providerId="ADAL" clId="{B7EEF610-8729-4A97-ACFB-91EB85CA03E6}" dt="2026-08-27T06:41:03.659" v="50" actId="478"/>
          <ac:spMkLst>
            <pc:docMk/>
            <pc:sldMk cId="0" sldId="256"/>
            <ac:spMk id="14" creationId="{00000000-0000-0000-0000-000000000000}"/>
          </ac:spMkLst>
        </pc:spChg>
        <pc:spChg chg="del">
          <ac:chgData name="Roshan Narode" userId="e08c5a8f-2405-4d19-b43b-d9411d8d80f9" providerId="ADAL" clId="{B7EEF610-8729-4A97-ACFB-91EB85CA03E6}" dt="2026-08-27T06:40:58.529" v="49" actId="478"/>
          <ac:spMkLst>
            <pc:docMk/>
            <pc:sldMk cId="0" sldId="256"/>
            <ac:spMk id="15" creationId="{00000000-0000-0000-0000-000000000000}"/>
          </ac:spMkLst>
        </pc:spChg>
      </pc:sldChg>
      <pc:sldChg chg="modSp mod">
        <pc:chgData name="Roshan Narode" userId="e08c5a8f-2405-4d19-b43b-d9411d8d80f9" providerId="ADAL" clId="{B7EEF610-8729-4A97-ACFB-91EB85CA03E6}" dt="2026-08-27T05:38:38.920" v="37" actId="20577"/>
        <pc:sldMkLst>
          <pc:docMk/>
          <pc:sldMk cId="0" sldId="257"/>
        </pc:sldMkLst>
        <pc:spChg chg="mod">
          <ac:chgData name="Roshan Narode" userId="e08c5a8f-2405-4d19-b43b-d9411d8d80f9" providerId="ADAL" clId="{B7EEF610-8729-4A97-ACFB-91EB85CA03E6}" dt="2026-08-27T05:38:38.920" v="37" actId="20577"/>
          <ac:spMkLst>
            <pc:docMk/>
            <pc:sldMk cId="0" sldId="257"/>
            <ac:spMk id="8" creationId="{00000000-0000-0000-0000-000000000000}"/>
          </ac:spMkLst>
        </pc:spChg>
      </pc:sldChg>
      <pc:sldChg chg="delSp modSp mod ord">
        <pc:chgData name="Roshan Narode" userId="e08c5a8f-2405-4d19-b43b-d9411d8d80f9" providerId="ADAL" clId="{B7EEF610-8729-4A97-ACFB-91EB85CA03E6}" dt="2026-08-27T06:44:28.657" v="103" actId="478"/>
        <pc:sldMkLst>
          <pc:docMk/>
          <pc:sldMk cId="0" sldId="258"/>
        </pc:sldMkLst>
        <pc:spChg chg="mod">
          <ac:chgData name="Roshan Narode" userId="e08c5a8f-2405-4d19-b43b-d9411d8d80f9" providerId="ADAL" clId="{B7EEF610-8729-4A97-ACFB-91EB85CA03E6}" dt="2026-08-27T06:43:07.610" v="93" actId="1076"/>
          <ac:spMkLst>
            <pc:docMk/>
            <pc:sldMk cId="0" sldId="258"/>
            <ac:spMk id="3" creationId="{00000000-0000-0000-0000-000000000000}"/>
          </ac:spMkLst>
        </pc:spChg>
        <pc:spChg chg="del mod">
          <ac:chgData name="Roshan Narode" userId="e08c5a8f-2405-4d19-b43b-d9411d8d80f9" providerId="ADAL" clId="{B7EEF610-8729-4A97-ACFB-91EB85CA03E6}" dt="2026-08-27T06:42:59.858" v="92" actId="478"/>
          <ac:spMkLst>
            <pc:docMk/>
            <pc:sldMk cId="0" sldId="258"/>
            <ac:spMk id="4" creationId="{00000000-0000-0000-0000-000000000000}"/>
          </ac:spMkLst>
        </pc:spChg>
        <pc:spChg chg="mod">
          <ac:chgData name="Roshan Narode" userId="e08c5a8f-2405-4d19-b43b-d9411d8d80f9" providerId="ADAL" clId="{B7EEF610-8729-4A97-ACFB-91EB85CA03E6}" dt="2026-08-27T06:44:05.107" v="95"/>
          <ac:spMkLst>
            <pc:docMk/>
            <pc:sldMk cId="0" sldId="258"/>
            <ac:spMk id="5" creationId="{00000000-0000-0000-0000-000000000000}"/>
          </ac:spMkLst>
        </pc:spChg>
        <pc:spChg chg="del mod">
          <ac:chgData name="Roshan Narode" userId="e08c5a8f-2405-4d19-b43b-d9411d8d80f9" providerId="ADAL" clId="{B7EEF610-8729-4A97-ACFB-91EB85CA03E6}" dt="2026-08-27T06:44:25.501" v="102" actId="478"/>
          <ac:spMkLst>
            <pc:docMk/>
            <pc:sldMk cId="0" sldId="258"/>
            <ac:spMk id="6" creationId="{00000000-0000-0000-0000-000000000000}"/>
          </ac:spMkLst>
        </pc:spChg>
        <pc:spChg chg="del mod">
          <ac:chgData name="Roshan Narode" userId="e08c5a8f-2405-4d19-b43b-d9411d8d80f9" providerId="ADAL" clId="{B7EEF610-8729-4A97-ACFB-91EB85CA03E6}" dt="2026-08-27T06:44:28.657" v="103" actId="478"/>
          <ac:spMkLst>
            <pc:docMk/>
            <pc:sldMk cId="0" sldId="258"/>
            <ac:spMk id="7" creationId="{00000000-0000-0000-0000-000000000000}"/>
          </ac:spMkLst>
        </pc:spChg>
        <pc:spChg chg="del">
          <ac:chgData name="Roshan Narode" userId="e08c5a8f-2405-4d19-b43b-d9411d8d80f9" providerId="ADAL" clId="{B7EEF610-8729-4A97-ACFB-91EB85CA03E6}" dt="2026-08-27T06:44:22.855" v="101" actId="478"/>
          <ac:spMkLst>
            <pc:docMk/>
            <pc:sldMk cId="0" sldId="258"/>
            <ac:spMk id="8" creationId="{00000000-0000-0000-0000-000000000000}"/>
          </ac:spMkLst>
        </pc:spChg>
        <pc:spChg chg="del mod">
          <ac:chgData name="Roshan Narode" userId="e08c5a8f-2405-4d19-b43b-d9411d8d80f9" providerId="ADAL" clId="{B7EEF610-8729-4A97-ACFB-91EB85CA03E6}" dt="2026-08-27T06:44:20.268" v="100" actId="478"/>
          <ac:spMkLst>
            <pc:docMk/>
            <pc:sldMk cId="0" sldId="258"/>
            <ac:spMk id="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5167" y="2547851"/>
            <a:ext cx="10881360" cy="938719"/>
          </a:xfrm>
          <a:prstGeom prst="rect">
            <a:avLst/>
          </a:prstGeom>
          <a:noFill/>
        </p:spPr>
        <p:txBody>
          <a:bodyPr wrap="square">
            <a:spAutoFit/>
          </a:bodyPr>
          <a:lstStyle/>
          <a:p>
            <a:pPr>
              <a:defRPr sz="3800" b="1">
                <a:solidFill>
                  <a:srgbClr val="FFFFFF"/>
                </a:solidFill>
              </a:defRPr>
            </a:pPr>
            <a:r>
              <a:rPr dirty="0"/>
              <a:t>ACC → Databricks Connector</a:t>
            </a:r>
          </a:p>
          <a:p>
            <a:pPr>
              <a:defRPr sz="1700">
                <a:solidFill>
                  <a:srgbClr val="FFFFFF"/>
                </a:solidFill>
              </a:defRPr>
            </a:pPr>
            <a:r>
              <a:rPr dirty="0"/>
              <a:t>A self-service data integration platform for governed ACC analytics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38310"/>
            <a:ext cx="2810834" cy="523220"/>
          </a:xfrm>
          <a:prstGeom prst="rect">
            <a:avLst/>
          </a:prstGeom>
          <a:noFill/>
        </p:spPr>
        <p:txBody>
          <a:bodyPr wrap="none">
            <a:spAutoFit/>
          </a:bodyPr>
          <a:lstStyle/>
          <a:p>
            <a:pPr>
              <a:defRPr sz="2800" b="1">
                <a:solidFill>
                  <a:srgbClr val="14243D"/>
                </a:solidFill>
              </a:defRPr>
            </a:pPr>
            <a:r>
              <a:rPr lang="en-IN" dirty="0"/>
              <a:t>Business </a:t>
            </a:r>
            <a:r>
              <a:rPr dirty="0"/>
              <a:t>Problem</a:t>
            </a:r>
          </a:p>
        </p:txBody>
      </p:sp>
      <p:sp>
        <p:nvSpPr>
          <p:cNvPr id="5" name="TextBox 4"/>
          <p:cNvSpPr txBox="1"/>
          <p:nvPr/>
        </p:nvSpPr>
        <p:spPr>
          <a:xfrm>
            <a:off x="822960" y="1417320"/>
            <a:ext cx="10515600" cy="1477328"/>
          </a:xfrm>
          <a:prstGeom prst="rect">
            <a:avLst/>
          </a:prstGeom>
          <a:noFill/>
        </p:spPr>
        <p:txBody>
          <a:bodyPr wrap="square">
            <a:spAutoFit/>
          </a:bodyPr>
          <a:lstStyle/>
          <a:p>
            <a:r>
              <a:rPr lang="en-IN" dirty="0"/>
              <a:t>Every ACC project generates enormous operational data — issues, RFIs, cost items, daily logs, schedules. Today it stays trapped as project-level exports: ACC can ship CSV files, but there is no native path into Databricks, where analytics and AI actually run. Customers who want to analyse it, join it to ERP, or feed it to models need incrementally maintained, </a:t>
            </a:r>
            <a:r>
              <a:rPr lang="en-IN" dirty="0" err="1"/>
              <a:t>queryable</a:t>
            </a:r>
            <a:r>
              <a:rPr lang="en-IN" dirty="0"/>
              <a:t> tables under Unity </a:t>
            </a:r>
            <a:r>
              <a:rPr lang="en-IN" dirty="0" err="1"/>
              <a:t>Catalog</a:t>
            </a:r>
            <a:r>
              <a:rPr lang="en-IN" dirty="0"/>
              <a:t> governance — a complex, ongoing integration challenge, not a one-time export that runs itself forever.  </a:t>
            </a:r>
          </a:p>
        </p:txBody>
      </p:sp>
      <p:sp>
        <p:nvSpPr>
          <p:cNvPr id="10" name="TextBox 9"/>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Executive Summary</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What the system is, why it exists, and the value it delivers</a:t>
            </a:r>
          </a:p>
        </p:txBody>
      </p:sp>
      <p:sp>
        <p:nvSpPr>
          <p:cNvPr id="5" name="Rounded Rectangle 4"/>
          <p:cNvSpPr/>
          <p:nvPr/>
        </p:nvSpPr>
        <p:spPr>
          <a:xfrm>
            <a:off x="685800" y="1417320"/>
            <a:ext cx="3474720" cy="18288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417320"/>
            <a:ext cx="73152" cy="18288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581912"/>
            <a:ext cx="3108960" cy="365760"/>
          </a:xfrm>
          <a:prstGeom prst="rect">
            <a:avLst/>
          </a:prstGeom>
          <a:noFill/>
        </p:spPr>
        <p:txBody>
          <a:bodyPr wrap="none">
            <a:spAutoFit/>
          </a:bodyPr>
          <a:lstStyle/>
          <a:p>
            <a:pPr>
              <a:defRPr sz="1600" b="1">
                <a:solidFill>
                  <a:srgbClr val="14243D"/>
                </a:solidFill>
              </a:defRPr>
            </a:pPr>
            <a:r>
              <a:t>What it is</a:t>
            </a:r>
          </a:p>
        </p:txBody>
      </p:sp>
      <p:sp>
        <p:nvSpPr>
          <p:cNvPr id="8" name="TextBox 7"/>
          <p:cNvSpPr txBox="1"/>
          <p:nvPr/>
        </p:nvSpPr>
        <p:spPr>
          <a:xfrm>
            <a:off x="886968" y="2011680"/>
            <a:ext cx="3108960" cy="1054135"/>
          </a:xfrm>
          <a:prstGeom prst="rect">
            <a:avLst/>
          </a:prstGeom>
          <a:noFill/>
        </p:spPr>
        <p:txBody>
          <a:bodyPr wrap="square">
            <a:spAutoFit/>
          </a:bodyPr>
          <a:lstStyle/>
          <a:p>
            <a:pPr>
              <a:defRPr sz="1250">
                <a:solidFill>
                  <a:srgbClr val="2D323A"/>
                </a:solidFill>
              </a:defRPr>
            </a:pPr>
            <a:r>
              <a:rPr lang="en-IN" sz="1250" dirty="0"/>
              <a:t>A lightweight web application </a:t>
            </a:r>
            <a:r>
              <a:rPr dirty="0"/>
              <a:t>web application that replicates ACC project data into customer-owned Databricks as Bronze Delta tables</a:t>
            </a:r>
            <a:r>
              <a:rPr lang="en-IN" dirty="0"/>
              <a:t> for </a:t>
            </a:r>
            <a:r>
              <a:rPr lang="en-IN" dirty="0" err="1"/>
              <a:t>analytis</a:t>
            </a:r>
            <a:r>
              <a:rPr lang="en-IN" dirty="0"/>
              <a:t> </a:t>
            </a:r>
            <a:br>
              <a:rPr lang="en-IN" dirty="0"/>
            </a:br>
            <a:endParaRPr dirty="0"/>
          </a:p>
        </p:txBody>
      </p:sp>
      <p:sp>
        <p:nvSpPr>
          <p:cNvPr id="9" name="Rounded Rectangle 8"/>
          <p:cNvSpPr/>
          <p:nvPr/>
        </p:nvSpPr>
        <p:spPr>
          <a:xfrm>
            <a:off x="4370832" y="1417320"/>
            <a:ext cx="3474720" cy="18288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0832" y="1417320"/>
            <a:ext cx="73152" cy="182880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581912"/>
            <a:ext cx="3108960" cy="365760"/>
          </a:xfrm>
          <a:prstGeom prst="rect">
            <a:avLst/>
          </a:prstGeom>
          <a:noFill/>
        </p:spPr>
        <p:txBody>
          <a:bodyPr wrap="none">
            <a:spAutoFit/>
          </a:bodyPr>
          <a:lstStyle/>
          <a:p>
            <a:pPr>
              <a:defRPr sz="1600" b="1">
                <a:solidFill>
                  <a:srgbClr val="14243D"/>
                </a:solidFill>
              </a:defRPr>
            </a:pPr>
            <a:r>
              <a:t>What it solves</a:t>
            </a:r>
          </a:p>
        </p:txBody>
      </p:sp>
      <p:sp>
        <p:nvSpPr>
          <p:cNvPr id="12" name="TextBox 11"/>
          <p:cNvSpPr txBox="1"/>
          <p:nvPr/>
        </p:nvSpPr>
        <p:spPr>
          <a:xfrm>
            <a:off x="4572000" y="2011680"/>
            <a:ext cx="3108960" cy="1097280"/>
          </a:xfrm>
          <a:prstGeom prst="rect">
            <a:avLst/>
          </a:prstGeom>
          <a:noFill/>
        </p:spPr>
        <p:txBody>
          <a:bodyPr wrap="square">
            <a:spAutoFit/>
          </a:bodyPr>
          <a:lstStyle/>
          <a:p>
            <a:pPr>
              <a:defRPr sz="1250">
                <a:solidFill>
                  <a:srgbClr val="2D323A"/>
                </a:solidFill>
              </a:defRPr>
            </a:pPr>
            <a:r>
              <a:t>Removes custom export scripts, orchestration, schema handling and CDC engineering.</a:t>
            </a:r>
          </a:p>
        </p:txBody>
      </p:sp>
      <p:sp>
        <p:nvSpPr>
          <p:cNvPr id="13" name="Rounded Rectangle 12"/>
          <p:cNvSpPr/>
          <p:nvPr/>
        </p:nvSpPr>
        <p:spPr>
          <a:xfrm>
            <a:off x="8055864" y="1417320"/>
            <a:ext cx="3474720" cy="18288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55864" y="1417320"/>
            <a:ext cx="73152" cy="182880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2" y="1581912"/>
            <a:ext cx="3108960" cy="365760"/>
          </a:xfrm>
          <a:prstGeom prst="rect">
            <a:avLst/>
          </a:prstGeom>
          <a:noFill/>
        </p:spPr>
        <p:txBody>
          <a:bodyPr wrap="none">
            <a:spAutoFit/>
          </a:bodyPr>
          <a:lstStyle/>
          <a:p>
            <a:pPr>
              <a:defRPr sz="1600" b="1">
                <a:solidFill>
                  <a:srgbClr val="14243D"/>
                </a:solidFill>
              </a:defRPr>
            </a:pPr>
            <a:r>
              <a:t>Business value</a:t>
            </a:r>
          </a:p>
        </p:txBody>
      </p:sp>
      <p:sp>
        <p:nvSpPr>
          <p:cNvPr id="16" name="TextBox 15"/>
          <p:cNvSpPr txBox="1"/>
          <p:nvPr/>
        </p:nvSpPr>
        <p:spPr>
          <a:xfrm>
            <a:off x="8257032" y="2011680"/>
            <a:ext cx="3108960" cy="1097280"/>
          </a:xfrm>
          <a:prstGeom prst="rect">
            <a:avLst/>
          </a:prstGeom>
          <a:noFill/>
        </p:spPr>
        <p:txBody>
          <a:bodyPr wrap="square">
            <a:spAutoFit/>
          </a:bodyPr>
          <a:lstStyle/>
          <a:p>
            <a:pPr>
              <a:defRPr sz="1250">
                <a:solidFill>
                  <a:srgbClr val="2D323A"/>
                </a:solidFill>
              </a:defRPr>
            </a:pPr>
            <a:r>
              <a:t>Faster time-to-insight while keeping construction data under customer Databricks governance.</a:t>
            </a:r>
          </a:p>
        </p:txBody>
      </p:sp>
      <p:sp>
        <p:nvSpPr>
          <p:cNvPr id="17" name="TextBox 16"/>
          <p:cNvSpPr txBox="1"/>
          <p:nvPr/>
        </p:nvSpPr>
        <p:spPr>
          <a:xfrm>
            <a:off x="868680" y="3794760"/>
            <a:ext cx="10332720" cy="1920240"/>
          </a:xfrm>
          <a:prstGeom prst="rect">
            <a:avLst/>
          </a:prstGeom>
          <a:noFill/>
        </p:spPr>
        <p:txBody>
          <a:bodyPr wrap="square">
            <a:spAutoFit/>
          </a:bodyPr>
          <a:lstStyle/>
          <a:p>
            <a:pPr>
              <a:spcAft>
                <a:spcPts val="900"/>
              </a:spcAft>
              <a:defRPr sz="1700" b="0">
                <a:solidFill>
                  <a:srgbClr val="2D323A"/>
                </a:solidFill>
              </a:defRPr>
            </a:pPr>
            <a:r>
              <a:t>~262 ACC tables across ~25 service groups</a:t>
            </a:r>
          </a:p>
          <a:p>
            <a:pPr>
              <a:spcAft>
                <a:spcPts val="900"/>
              </a:spcAft>
              <a:defRPr sz="1700" b="0">
                <a:solidFill>
                  <a:srgbClr val="2D323A"/>
                </a:solidFill>
              </a:defRPr>
            </a:pPr>
            <a:r>
              <a:t>Snapshot + CDC ingestion modes</a:t>
            </a:r>
          </a:p>
          <a:p>
            <a:pPr>
              <a:spcAft>
                <a:spcPts val="900"/>
              </a:spcAft>
              <a:defRPr sz="1700" b="0">
                <a:solidFill>
                  <a:srgbClr val="2D323A"/>
                </a:solidFill>
              </a:defRPr>
            </a:pPr>
            <a:r>
              <a:t>Unity Catalog + Lakeflow Declarative Pipelines</a:t>
            </a:r>
          </a:p>
          <a:p>
            <a:pPr>
              <a:spcAft>
                <a:spcPts val="900"/>
              </a:spcAft>
              <a:defRPr sz="1700" b="0">
                <a:solidFill>
                  <a:srgbClr val="2D323A"/>
                </a:solidFill>
              </a:defRPr>
            </a:pPr>
            <a:r>
              <a:t>Customer data is not stored in the connector control-plane database</a:t>
            </a:r>
          </a:p>
        </p:txBody>
      </p:sp>
      <p:sp>
        <p:nvSpPr>
          <p:cNvPr id="18" name="TextBox 17"/>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Solution at a Glance</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Two coordinated planes: a lightweight conductor and a customer-owned data factory</a:t>
            </a:r>
          </a:p>
        </p:txBody>
      </p:sp>
      <p:sp>
        <p:nvSpPr>
          <p:cNvPr id="5" name="Rounded Rectangle 4"/>
          <p:cNvSpPr/>
          <p:nvPr/>
        </p:nvSpPr>
        <p:spPr>
          <a:xfrm>
            <a:off x="685800" y="1828800"/>
            <a:ext cx="2574036"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1984248"/>
            <a:ext cx="2427732" cy="502920"/>
          </a:xfrm>
          <a:prstGeom prst="rect">
            <a:avLst/>
          </a:prstGeom>
          <a:noFill/>
        </p:spPr>
        <p:txBody>
          <a:bodyPr wrap="none">
            <a:spAutoFit/>
          </a:bodyPr>
          <a:lstStyle/>
          <a:p>
            <a:pPr algn="ctr">
              <a:defRPr sz="1200" b="1">
                <a:solidFill>
                  <a:srgbClr val="14243D"/>
                </a:solidFill>
              </a:defRPr>
            </a:pPr>
            <a:r>
              <a:t>ACC / APS</a:t>
            </a:r>
          </a:p>
        </p:txBody>
      </p:sp>
      <p:sp>
        <p:nvSpPr>
          <p:cNvPr id="7" name="Right Arrow 6"/>
          <p:cNvSpPr/>
          <p:nvPr/>
        </p:nvSpPr>
        <p:spPr>
          <a:xfrm>
            <a:off x="3287268"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24428" y="1828800"/>
            <a:ext cx="2574036"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97580" y="1984248"/>
            <a:ext cx="2427732" cy="502920"/>
          </a:xfrm>
          <a:prstGeom prst="rect">
            <a:avLst/>
          </a:prstGeom>
          <a:noFill/>
        </p:spPr>
        <p:txBody>
          <a:bodyPr wrap="none">
            <a:spAutoFit/>
          </a:bodyPr>
          <a:lstStyle/>
          <a:p>
            <a:pPr algn="ctr">
              <a:defRPr sz="1200" b="1">
                <a:solidFill>
                  <a:srgbClr val="14243D"/>
                </a:solidFill>
              </a:defRPr>
            </a:pPr>
            <a:r>
              <a:t>CCTech Control Plane</a:t>
            </a:r>
          </a:p>
        </p:txBody>
      </p:sp>
      <p:sp>
        <p:nvSpPr>
          <p:cNvPr id="10" name="Right Arrow 9"/>
          <p:cNvSpPr/>
          <p:nvPr/>
        </p:nvSpPr>
        <p:spPr>
          <a:xfrm>
            <a:off x="6025896"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63056" y="1828800"/>
            <a:ext cx="2574036"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36208" y="1984248"/>
            <a:ext cx="2427732" cy="502920"/>
          </a:xfrm>
          <a:prstGeom prst="rect">
            <a:avLst/>
          </a:prstGeom>
          <a:noFill/>
        </p:spPr>
        <p:txBody>
          <a:bodyPr wrap="none">
            <a:spAutoFit/>
          </a:bodyPr>
          <a:lstStyle/>
          <a:p>
            <a:pPr algn="ctr">
              <a:defRPr sz="1200" b="1">
                <a:solidFill>
                  <a:srgbClr val="14243D"/>
                </a:solidFill>
              </a:defRPr>
            </a:pPr>
            <a:r>
              <a:t>Customer Databricks</a:t>
            </a:r>
          </a:p>
        </p:txBody>
      </p:sp>
      <p:sp>
        <p:nvSpPr>
          <p:cNvPr id="13" name="Right Arrow 12"/>
          <p:cNvSpPr/>
          <p:nvPr/>
        </p:nvSpPr>
        <p:spPr>
          <a:xfrm>
            <a:off x="8764524"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901684" y="1828800"/>
            <a:ext cx="2574036"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74836" y="1984248"/>
            <a:ext cx="2427732" cy="502920"/>
          </a:xfrm>
          <a:prstGeom prst="rect">
            <a:avLst/>
          </a:prstGeom>
          <a:noFill/>
        </p:spPr>
        <p:txBody>
          <a:bodyPr wrap="none">
            <a:spAutoFit/>
          </a:bodyPr>
          <a:lstStyle/>
          <a:p>
            <a:pPr algn="ctr">
              <a:defRPr sz="1200" b="1">
                <a:solidFill>
                  <a:srgbClr val="14243D"/>
                </a:solidFill>
              </a:defRPr>
            </a:pPr>
            <a:r>
              <a:t>Bronze Delta Tables</a:t>
            </a:r>
          </a:p>
        </p:txBody>
      </p:sp>
      <p:sp>
        <p:nvSpPr>
          <p:cNvPr id="16" name="Rounded Rectangle 15"/>
          <p:cNvSpPr/>
          <p:nvPr/>
        </p:nvSpPr>
        <p:spPr>
          <a:xfrm>
            <a:off x="731520" y="3246120"/>
            <a:ext cx="3383280" cy="15544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3246120"/>
            <a:ext cx="73152" cy="155448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3410712"/>
            <a:ext cx="3017520" cy="365760"/>
          </a:xfrm>
          <a:prstGeom prst="rect">
            <a:avLst/>
          </a:prstGeom>
          <a:noFill/>
        </p:spPr>
        <p:txBody>
          <a:bodyPr wrap="none">
            <a:spAutoFit/>
          </a:bodyPr>
          <a:lstStyle/>
          <a:p>
            <a:pPr>
              <a:defRPr sz="1600" b="1">
                <a:solidFill>
                  <a:srgbClr val="14243D"/>
                </a:solidFill>
              </a:defRPr>
            </a:pPr>
            <a:r>
              <a:t>Control plane</a:t>
            </a:r>
          </a:p>
        </p:txBody>
      </p:sp>
      <p:sp>
        <p:nvSpPr>
          <p:cNvPr id="19" name="TextBox 18"/>
          <p:cNvSpPr txBox="1"/>
          <p:nvPr/>
        </p:nvSpPr>
        <p:spPr>
          <a:xfrm>
            <a:off x="932688" y="3840480"/>
            <a:ext cx="3017520" cy="822959"/>
          </a:xfrm>
          <a:prstGeom prst="rect">
            <a:avLst/>
          </a:prstGeom>
          <a:noFill/>
        </p:spPr>
        <p:txBody>
          <a:bodyPr wrap="square">
            <a:spAutoFit/>
          </a:bodyPr>
          <a:lstStyle/>
          <a:p>
            <a:pPr>
              <a:defRPr sz="1250">
                <a:solidFill>
                  <a:srgbClr val="2D323A"/>
                </a:solidFill>
              </a:defRPr>
            </a:pPr>
            <a:r>
              <a:t>Flask application orchestrates OAuth, project selection, provisioning, sync state, watermarks and run history.</a:t>
            </a:r>
          </a:p>
        </p:txBody>
      </p:sp>
      <p:sp>
        <p:nvSpPr>
          <p:cNvPr id="20" name="Rounded Rectangle 19"/>
          <p:cNvSpPr/>
          <p:nvPr/>
        </p:nvSpPr>
        <p:spPr>
          <a:xfrm>
            <a:off x="4407408" y="3246120"/>
            <a:ext cx="3383280" cy="15544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07408" y="3246120"/>
            <a:ext cx="73152" cy="155448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08576" y="3410712"/>
            <a:ext cx="3017520" cy="365760"/>
          </a:xfrm>
          <a:prstGeom prst="rect">
            <a:avLst/>
          </a:prstGeom>
          <a:noFill/>
        </p:spPr>
        <p:txBody>
          <a:bodyPr wrap="none">
            <a:spAutoFit/>
          </a:bodyPr>
          <a:lstStyle/>
          <a:p>
            <a:pPr>
              <a:defRPr sz="1600" b="1">
                <a:solidFill>
                  <a:srgbClr val="14243D"/>
                </a:solidFill>
              </a:defRPr>
            </a:pPr>
            <a:r>
              <a:t>Data plane</a:t>
            </a:r>
          </a:p>
        </p:txBody>
      </p:sp>
      <p:sp>
        <p:nvSpPr>
          <p:cNvPr id="23" name="TextBox 22"/>
          <p:cNvSpPr txBox="1"/>
          <p:nvPr/>
        </p:nvSpPr>
        <p:spPr>
          <a:xfrm>
            <a:off x="4608576" y="3840480"/>
            <a:ext cx="3017520" cy="822959"/>
          </a:xfrm>
          <a:prstGeom prst="rect">
            <a:avLst/>
          </a:prstGeom>
          <a:noFill/>
        </p:spPr>
        <p:txBody>
          <a:bodyPr wrap="square">
            <a:spAutoFit/>
          </a:bodyPr>
          <a:lstStyle/>
          <a:p>
            <a:pPr>
              <a:defRPr sz="1250">
                <a:solidFill>
                  <a:srgbClr val="2D323A"/>
                </a:solidFill>
              </a:defRPr>
            </a:pPr>
            <a:r>
              <a:t>Databricks owns volumes, jobs, Lakeflow pipelines and the actual construction data.</a:t>
            </a:r>
          </a:p>
        </p:txBody>
      </p:sp>
      <p:sp>
        <p:nvSpPr>
          <p:cNvPr id="24" name="Rounded Rectangle 23"/>
          <p:cNvSpPr/>
          <p:nvPr/>
        </p:nvSpPr>
        <p:spPr>
          <a:xfrm>
            <a:off x="8083296" y="3246120"/>
            <a:ext cx="3383280" cy="15544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83296" y="3246120"/>
            <a:ext cx="73152" cy="155448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84464" y="3410712"/>
            <a:ext cx="3017520" cy="365760"/>
          </a:xfrm>
          <a:prstGeom prst="rect">
            <a:avLst/>
          </a:prstGeom>
          <a:noFill/>
        </p:spPr>
        <p:txBody>
          <a:bodyPr wrap="none">
            <a:spAutoFit/>
          </a:bodyPr>
          <a:lstStyle/>
          <a:p>
            <a:pPr>
              <a:defRPr sz="1600" b="1">
                <a:solidFill>
                  <a:srgbClr val="14243D"/>
                </a:solidFill>
              </a:defRPr>
            </a:pPr>
            <a:r>
              <a:t>Trust boundary</a:t>
            </a:r>
          </a:p>
        </p:txBody>
      </p:sp>
      <p:sp>
        <p:nvSpPr>
          <p:cNvPr id="27" name="TextBox 26"/>
          <p:cNvSpPr txBox="1"/>
          <p:nvPr/>
        </p:nvSpPr>
        <p:spPr>
          <a:xfrm>
            <a:off x="8284464" y="3840480"/>
            <a:ext cx="3017520" cy="822959"/>
          </a:xfrm>
          <a:prstGeom prst="rect">
            <a:avLst/>
          </a:prstGeom>
          <a:noFill/>
        </p:spPr>
        <p:txBody>
          <a:bodyPr wrap="square">
            <a:spAutoFit/>
          </a:bodyPr>
          <a:lstStyle/>
          <a:p>
            <a:pPr>
              <a:defRPr sz="1250">
                <a:solidFill>
                  <a:srgbClr val="2D323A"/>
                </a:solidFill>
              </a:defRPr>
            </a:pPr>
            <a:r>
              <a:t>Connector persistence stores tokens and metadata; ACC row data is designed to remain outside it.</a:t>
            </a:r>
          </a:p>
        </p:txBody>
      </p:sp>
      <p:sp>
        <p:nvSpPr>
          <p:cNvPr id="28" name="TextBox 27"/>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End-to-End Customer Journey</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Five steps from sign-in to analytics</a:t>
            </a:r>
          </a:p>
        </p:txBody>
      </p:sp>
      <p:sp>
        <p:nvSpPr>
          <p:cNvPr id="5" name="Rounded Rectangle 4"/>
          <p:cNvSpPr/>
          <p:nvPr/>
        </p:nvSpPr>
        <p:spPr>
          <a:xfrm>
            <a:off x="594360" y="1508760"/>
            <a:ext cx="2057400" cy="34747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508760"/>
            <a:ext cx="73152" cy="347472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673351"/>
            <a:ext cx="1691640" cy="365760"/>
          </a:xfrm>
          <a:prstGeom prst="rect">
            <a:avLst/>
          </a:prstGeom>
          <a:noFill/>
        </p:spPr>
        <p:txBody>
          <a:bodyPr wrap="none">
            <a:spAutoFit/>
          </a:bodyPr>
          <a:lstStyle/>
          <a:p>
            <a:pPr>
              <a:defRPr sz="1600" b="1">
                <a:solidFill>
                  <a:srgbClr val="14243D"/>
                </a:solidFill>
              </a:defRPr>
            </a:pPr>
            <a:r>
              <a:t>1. Connect</a:t>
            </a:r>
          </a:p>
        </p:txBody>
      </p:sp>
      <p:sp>
        <p:nvSpPr>
          <p:cNvPr id="8" name="TextBox 7"/>
          <p:cNvSpPr txBox="1"/>
          <p:nvPr/>
        </p:nvSpPr>
        <p:spPr>
          <a:xfrm>
            <a:off x="795528" y="2103120"/>
            <a:ext cx="1691640" cy="2743200"/>
          </a:xfrm>
          <a:prstGeom prst="rect">
            <a:avLst/>
          </a:prstGeom>
          <a:noFill/>
        </p:spPr>
        <p:txBody>
          <a:bodyPr wrap="square">
            <a:spAutoFit/>
          </a:bodyPr>
          <a:lstStyle/>
          <a:p>
            <a:pPr>
              <a:defRPr sz="1250">
                <a:solidFill>
                  <a:srgbClr val="2D323A"/>
                </a:solidFill>
              </a:defRPr>
            </a:pPr>
            <a:r>
              <a:t>Sign in with Autodesk and select hub/project.</a:t>
            </a:r>
          </a:p>
        </p:txBody>
      </p:sp>
      <p:sp>
        <p:nvSpPr>
          <p:cNvPr id="9" name="Rounded Rectangle 8"/>
          <p:cNvSpPr/>
          <p:nvPr/>
        </p:nvSpPr>
        <p:spPr>
          <a:xfrm>
            <a:off x="2907791" y="1508760"/>
            <a:ext cx="2057400" cy="34747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907791" y="1508760"/>
            <a:ext cx="73152" cy="347472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08960" y="1673351"/>
            <a:ext cx="1691640" cy="365760"/>
          </a:xfrm>
          <a:prstGeom prst="rect">
            <a:avLst/>
          </a:prstGeom>
          <a:noFill/>
        </p:spPr>
        <p:txBody>
          <a:bodyPr wrap="none">
            <a:spAutoFit/>
          </a:bodyPr>
          <a:lstStyle/>
          <a:p>
            <a:pPr>
              <a:defRPr sz="1600" b="1">
                <a:solidFill>
                  <a:srgbClr val="14243D"/>
                </a:solidFill>
              </a:defRPr>
            </a:pPr>
            <a:r>
              <a:t>2. Link Databricks</a:t>
            </a:r>
          </a:p>
        </p:txBody>
      </p:sp>
      <p:sp>
        <p:nvSpPr>
          <p:cNvPr id="12" name="TextBox 11"/>
          <p:cNvSpPr txBox="1"/>
          <p:nvPr/>
        </p:nvSpPr>
        <p:spPr>
          <a:xfrm>
            <a:off x="3108960" y="2103120"/>
            <a:ext cx="1691640" cy="2743200"/>
          </a:xfrm>
          <a:prstGeom prst="rect">
            <a:avLst/>
          </a:prstGeom>
          <a:noFill/>
        </p:spPr>
        <p:txBody>
          <a:bodyPr wrap="square">
            <a:spAutoFit/>
          </a:bodyPr>
          <a:lstStyle/>
          <a:p>
            <a:pPr>
              <a:defRPr sz="1250">
                <a:solidFill>
                  <a:srgbClr val="2D323A"/>
                </a:solidFill>
              </a:defRPr>
            </a:pPr>
            <a:r>
              <a:t>Authorize access and select an eligible Unity Catalog.</a:t>
            </a:r>
          </a:p>
        </p:txBody>
      </p:sp>
      <p:sp>
        <p:nvSpPr>
          <p:cNvPr id="13" name="Rounded Rectangle 12"/>
          <p:cNvSpPr/>
          <p:nvPr/>
        </p:nvSpPr>
        <p:spPr>
          <a:xfrm>
            <a:off x="5221224" y="1508760"/>
            <a:ext cx="2057400" cy="34747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21224" y="1508760"/>
            <a:ext cx="73152" cy="347472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22392" y="1673351"/>
            <a:ext cx="1691640" cy="365760"/>
          </a:xfrm>
          <a:prstGeom prst="rect">
            <a:avLst/>
          </a:prstGeom>
          <a:noFill/>
        </p:spPr>
        <p:txBody>
          <a:bodyPr wrap="none">
            <a:spAutoFit/>
          </a:bodyPr>
          <a:lstStyle/>
          <a:p>
            <a:pPr>
              <a:defRPr sz="1600" b="1">
                <a:solidFill>
                  <a:srgbClr val="14243D"/>
                </a:solidFill>
              </a:defRPr>
            </a:pPr>
            <a:r>
              <a:t>3. Provision</a:t>
            </a:r>
          </a:p>
        </p:txBody>
      </p:sp>
      <p:sp>
        <p:nvSpPr>
          <p:cNvPr id="16" name="TextBox 15"/>
          <p:cNvSpPr txBox="1"/>
          <p:nvPr/>
        </p:nvSpPr>
        <p:spPr>
          <a:xfrm>
            <a:off x="5422392" y="2103120"/>
            <a:ext cx="1691640" cy="2743200"/>
          </a:xfrm>
          <a:prstGeom prst="rect">
            <a:avLst/>
          </a:prstGeom>
          <a:noFill/>
        </p:spPr>
        <p:txBody>
          <a:bodyPr wrap="square">
            <a:spAutoFit/>
          </a:bodyPr>
          <a:lstStyle/>
          <a:p>
            <a:pPr>
              <a:defRPr sz="1250">
                <a:solidFill>
                  <a:srgbClr val="2D323A"/>
                </a:solidFill>
              </a:defRPr>
            </a:pPr>
            <a:r>
              <a:t>Bootstrap creates schemas, volume, metadata, notebooks, jobs and pipelines.</a:t>
            </a:r>
          </a:p>
        </p:txBody>
      </p:sp>
      <p:sp>
        <p:nvSpPr>
          <p:cNvPr id="17" name="Rounded Rectangle 16"/>
          <p:cNvSpPr/>
          <p:nvPr/>
        </p:nvSpPr>
        <p:spPr>
          <a:xfrm>
            <a:off x="7534656" y="1508760"/>
            <a:ext cx="2057400" cy="34747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34656" y="1508760"/>
            <a:ext cx="73152" cy="347472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35824" y="1673351"/>
            <a:ext cx="1691640" cy="365760"/>
          </a:xfrm>
          <a:prstGeom prst="rect">
            <a:avLst/>
          </a:prstGeom>
          <a:noFill/>
        </p:spPr>
        <p:txBody>
          <a:bodyPr wrap="none">
            <a:spAutoFit/>
          </a:bodyPr>
          <a:lstStyle/>
          <a:p>
            <a:pPr>
              <a:defRPr sz="1600" b="1">
                <a:solidFill>
                  <a:srgbClr val="14243D"/>
                </a:solidFill>
              </a:defRPr>
            </a:pPr>
            <a:r>
              <a:t>4. Sync</a:t>
            </a:r>
          </a:p>
        </p:txBody>
      </p:sp>
      <p:sp>
        <p:nvSpPr>
          <p:cNvPr id="20" name="TextBox 19"/>
          <p:cNvSpPr txBox="1"/>
          <p:nvPr/>
        </p:nvSpPr>
        <p:spPr>
          <a:xfrm>
            <a:off x="7735824" y="2103120"/>
            <a:ext cx="1691640" cy="2743200"/>
          </a:xfrm>
          <a:prstGeom prst="rect">
            <a:avLst/>
          </a:prstGeom>
          <a:noFill/>
        </p:spPr>
        <p:txBody>
          <a:bodyPr wrap="square">
            <a:spAutoFit/>
          </a:bodyPr>
          <a:lstStyle/>
          <a:p>
            <a:pPr>
              <a:defRPr sz="1250">
                <a:solidFill>
                  <a:srgbClr val="2D323A"/>
                </a:solidFill>
              </a:defRPr>
            </a:pPr>
            <a:r>
              <a:t>Run initial snapshot; optionally enable scheduled CDC.</a:t>
            </a:r>
          </a:p>
        </p:txBody>
      </p:sp>
      <p:sp>
        <p:nvSpPr>
          <p:cNvPr id="21" name="Rounded Rectangle 20"/>
          <p:cNvSpPr/>
          <p:nvPr/>
        </p:nvSpPr>
        <p:spPr>
          <a:xfrm>
            <a:off x="9848088" y="1508760"/>
            <a:ext cx="2057400" cy="34747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848088" y="1508760"/>
            <a:ext cx="73152" cy="347472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49256" y="1673351"/>
            <a:ext cx="1691640" cy="365760"/>
          </a:xfrm>
          <a:prstGeom prst="rect">
            <a:avLst/>
          </a:prstGeom>
          <a:noFill/>
        </p:spPr>
        <p:txBody>
          <a:bodyPr wrap="none">
            <a:spAutoFit/>
          </a:bodyPr>
          <a:lstStyle/>
          <a:p>
            <a:pPr>
              <a:defRPr sz="1600" b="1">
                <a:solidFill>
                  <a:srgbClr val="14243D"/>
                </a:solidFill>
              </a:defRPr>
            </a:pPr>
            <a:r>
              <a:t>5. Analyze</a:t>
            </a:r>
          </a:p>
        </p:txBody>
      </p:sp>
      <p:sp>
        <p:nvSpPr>
          <p:cNvPr id="24" name="TextBox 23"/>
          <p:cNvSpPr txBox="1"/>
          <p:nvPr/>
        </p:nvSpPr>
        <p:spPr>
          <a:xfrm>
            <a:off x="10049256" y="2103120"/>
            <a:ext cx="1691640" cy="2743200"/>
          </a:xfrm>
          <a:prstGeom prst="rect">
            <a:avLst/>
          </a:prstGeom>
          <a:noFill/>
        </p:spPr>
        <p:txBody>
          <a:bodyPr wrap="square">
            <a:spAutoFit/>
          </a:bodyPr>
          <a:lstStyle/>
          <a:p>
            <a:pPr>
              <a:defRPr sz="1250">
                <a:solidFill>
                  <a:srgbClr val="2D323A"/>
                </a:solidFill>
              </a:defRPr>
            </a:pPr>
            <a:r>
              <a:t>Query Bronze Delta tables with Databricks tools.</a:t>
            </a:r>
          </a:p>
        </p:txBody>
      </p:sp>
      <p:sp>
        <p:nvSpPr>
          <p:cNvPr id="25" name="TextBox 24"/>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Architecture</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High-level component view</a:t>
            </a:r>
          </a:p>
        </p:txBody>
      </p:sp>
      <p:sp>
        <p:nvSpPr>
          <p:cNvPr id="5" name="Rounded Rectangle 4"/>
          <p:cNvSpPr/>
          <p:nvPr/>
        </p:nvSpPr>
        <p:spPr>
          <a:xfrm>
            <a:off x="594360" y="1417320"/>
            <a:ext cx="2148840" cy="43891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417320"/>
            <a:ext cx="73152" cy="438912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581912"/>
            <a:ext cx="1783080" cy="365760"/>
          </a:xfrm>
          <a:prstGeom prst="rect">
            <a:avLst/>
          </a:prstGeom>
          <a:noFill/>
        </p:spPr>
        <p:txBody>
          <a:bodyPr wrap="none">
            <a:spAutoFit/>
          </a:bodyPr>
          <a:lstStyle/>
          <a:p>
            <a:pPr>
              <a:defRPr sz="1600" b="1">
                <a:solidFill>
                  <a:srgbClr val="14243D"/>
                </a:solidFill>
              </a:defRPr>
            </a:pPr>
            <a:r>
              <a:t>Client</a:t>
            </a:r>
          </a:p>
        </p:txBody>
      </p:sp>
      <p:sp>
        <p:nvSpPr>
          <p:cNvPr id="8" name="TextBox 7"/>
          <p:cNvSpPr txBox="1"/>
          <p:nvPr/>
        </p:nvSpPr>
        <p:spPr>
          <a:xfrm>
            <a:off x="795528" y="2011680"/>
            <a:ext cx="1783080" cy="3657600"/>
          </a:xfrm>
          <a:prstGeom prst="rect">
            <a:avLst/>
          </a:prstGeom>
          <a:noFill/>
        </p:spPr>
        <p:txBody>
          <a:bodyPr wrap="square">
            <a:spAutoFit/>
          </a:bodyPr>
          <a:lstStyle/>
          <a:p>
            <a:pPr>
              <a:defRPr sz="1250">
                <a:solidFill>
                  <a:srgbClr val="2D323A"/>
                </a:solidFill>
              </a:defRPr>
            </a:pPr>
            <a:r>
              <a:t>Browser</a:t>
            </a:r>
            <a:br/>
            <a:br/>
            <a:r>
              <a:t>• Five-step wizard</a:t>
            </a:r>
            <a:br/>
            <a:r>
              <a:t>• OAuth redirects</a:t>
            </a:r>
            <a:br/>
            <a:r>
              <a:t>• Sync polling</a:t>
            </a:r>
            <a:br/>
            <a:r>
              <a:t>• Dashboard</a:t>
            </a:r>
            <a:br/>
            <a:r>
              <a:t>• Vanilla JS</a:t>
            </a:r>
          </a:p>
        </p:txBody>
      </p:sp>
      <p:sp>
        <p:nvSpPr>
          <p:cNvPr id="9" name="Rounded Rectangle 8"/>
          <p:cNvSpPr/>
          <p:nvPr/>
        </p:nvSpPr>
        <p:spPr>
          <a:xfrm>
            <a:off x="2971800" y="1417320"/>
            <a:ext cx="2926080" cy="43891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971800" y="1417320"/>
            <a:ext cx="73152" cy="438912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72968" y="1581912"/>
            <a:ext cx="2560320" cy="365760"/>
          </a:xfrm>
          <a:prstGeom prst="rect">
            <a:avLst/>
          </a:prstGeom>
          <a:noFill/>
        </p:spPr>
        <p:txBody>
          <a:bodyPr wrap="none">
            <a:spAutoFit/>
          </a:bodyPr>
          <a:lstStyle/>
          <a:p>
            <a:pPr>
              <a:defRPr sz="1600" b="1">
                <a:solidFill>
                  <a:srgbClr val="14243D"/>
                </a:solidFill>
              </a:defRPr>
            </a:pPr>
            <a:r>
              <a:t>Control Plane</a:t>
            </a:r>
          </a:p>
        </p:txBody>
      </p:sp>
      <p:sp>
        <p:nvSpPr>
          <p:cNvPr id="12" name="TextBox 11"/>
          <p:cNvSpPr txBox="1"/>
          <p:nvPr/>
        </p:nvSpPr>
        <p:spPr>
          <a:xfrm>
            <a:off x="3172968" y="2011680"/>
            <a:ext cx="2560320" cy="3657600"/>
          </a:xfrm>
          <a:prstGeom prst="rect">
            <a:avLst/>
          </a:prstGeom>
          <a:noFill/>
        </p:spPr>
        <p:txBody>
          <a:bodyPr wrap="square">
            <a:spAutoFit/>
          </a:bodyPr>
          <a:lstStyle/>
          <a:p>
            <a:pPr>
              <a:defRPr sz="1250">
                <a:solidFill>
                  <a:srgbClr val="2D323A"/>
                </a:solidFill>
              </a:defRPr>
            </a:pPr>
            <a:r>
              <a:t>nginx → gunicorn → Flask</a:t>
            </a:r>
            <a:br/>
            <a:br/>
            <a:r>
              <a:t>Routes</a:t>
            </a:r>
            <a:br/>
            <a:r>
              <a:t>Services</a:t>
            </a:r>
            <a:br/>
            <a:r>
              <a:t>API clients</a:t>
            </a:r>
            <a:br/>
            <a:r>
              <a:t>Persistence</a:t>
            </a:r>
            <a:br/>
            <a:br/>
            <a:r>
              <a:t>Stores encrypted tokens, selections, run state and watermarks.</a:t>
            </a:r>
          </a:p>
        </p:txBody>
      </p:sp>
      <p:sp>
        <p:nvSpPr>
          <p:cNvPr id="13" name="Rounded Rectangle 12"/>
          <p:cNvSpPr/>
          <p:nvPr/>
        </p:nvSpPr>
        <p:spPr>
          <a:xfrm>
            <a:off x="6172200" y="1417320"/>
            <a:ext cx="2331720" cy="43891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417320"/>
            <a:ext cx="73152" cy="438912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73368" y="1581912"/>
            <a:ext cx="1965960" cy="365760"/>
          </a:xfrm>
          <a:prstGeom prst="rect">
            <a:avLst/>
          </a:prstGeom>
          <a:noFill/>
        </p:spPr>
        <p:txBody>
          <a:bodyPr wrap="none">
            <a:spAutoFit/>
          </a:bodyPr>
          <a:lstStyle/>
          <a:p>
            <a:pPr>
              <a:defRPr sz="1600" b="1">
                <a:solidFill>
                  <a:srgbClr val="14243D"/>
                </a:solidFill>
              </a:defRPr>
            </a:pPr>
            <a:r>
              <a:t>Autodesk APS</a:t>
            </a:r>
          </a:p>
        </p:txBody>
      </p:sp>
      <p:sp>
        <p:nvSpPr>
          <p:cNvPr id="16" name="TextBox 15"/>
          <p:cNvSpPr txBox="1"/>
          <p:nvPr/>
        </p:nvSpPr>
        <p:spPr>
          <a:xfrm>
            <a:off x="6373368" y="2011680"/>
            <a:ext cx="1965960" cy="3657600"/>
          </a:xfrm>
          <a:prstGeom prst="rect">
            <a:avLst/>
          </a:prstGeom>
          <a:noFill/>
        </p:spPr>
        <p:txBody>
          <a:bodyPr wrap="square">
            <a:spAutoFit/>
          </a:bodyPr>
          <a:lstStyle/>
          <a:p>
            <a:pPr>
              <a:defRPr sz="1250">
                <a:solidFill>
                  <a:srgbClr val="2D323A"/>
                </a:solidFill>
              </a:defRPr>
            </a:pPr>
            <a:r>
              <a:t>OAuth</a:t>
            </a:r>
            <a:br/>
            <a:br/>
            <a:r>
              <a:t>Data Management</a:t>
            </a:r>
            <a:br/>
            <a:br/>
            <a:r>
              <a:t>ACC Data Connector</a:t>
            </a:r>
            <a:br/>
            <a:br/>
            <a:r>
              <a:t>Bulk export jobs + signed URLs</a:t>
            </a:r>
          </a:p>
        </p:txBody>
      </p:sp>
      <p:sp>
        <p:nvSpPr>
          <p:cNvPr id="17" name="Rounded Rectangle 16"/>
          <p:cNvSpPr/>
          <p:nvPr/>
        </p:nvSpPr>
        <p:spPr>
          <a:xfrm>
            <a:off x="8778240" y="1417320"/>
            <a:ext cx="2788920" cy="43891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778240" y="1417320"/>
            <a:ext cx="73152" cy="438912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79408" y="1581912"/>
            <a:ext cx="2423160" cy="365760"/>
          </a:xfrm>
          <a:prstGeom prst="rect">
            <a:avLst/>
          </a:prstGeom>
          <a:noFill/>
        </p:spPr>
        <p:txBody>
          <a:bodyPr wrap="none">
            <a:spAutoFit/>
          </a:bodyPr>
          <a:lstStyle/>
          <a:p>
            <a:pPr>
              <a:defRPr sz="1600" b="1">
                <a:solidFill>
                  <a:srgbClr val="14243D"/>
                </a:solidFill>
              </a:defRPr>
            </a:pPr>
            <a:r>
              <a:t>Customer Databricks</a:t>
            </a:r>
          </a:p>
        </p:txBody>
      </p:sp>
      <p:sp>
        <p:nvSpPr>
          <p:cNvPr id="20" name="TextBox 19"/>
          <p:cNvSpPr txBox="1"/>
          <p:nvPr/>
        </p:nvSpPr>
        <p:spPr>
          <a:xfrm>
            <a:off x="8979408" y="2011680"/>
            <a:ext cx="2423160" cy="3657600"/>
          </a:xfrm>
          <a:prstGeom prst="rect">
            <a:avLst/>
          </a:prstGeom>
          <a:noFill/>
        </p:spPr>
        <p:txBody>
          <a:bodyPr wrap="square">
            <a:spAutoFit/>
          </a:bodyPr>
          <a:lstStyle/>
          <a:p>
            <a:pPr>
              <a:defRPr sz="1250">
                <a:solidFill>
                  <a:srgbClr val="2D323A"/>
                </a:solidFill>
              </a:defRPr>
            </a:pPr>
            <a:r>
              <a:t>Unity Catalog Volume</a:t>
            </a:r>
            <a:br/>
            <a:r>
              <a:t>Jobs</a:t>
            </a:r>
            <a:br/>
            <a:r>
              <a:t>Pipeline A — Snapshot</a:t>
            </a:r>
            <a:br/>
            <a:r>
              <a:t>Pipeline B — CDC</a:t>
            </a:r>
            <a:br/>
            <a:r>
              <a:t>Bronze Delta tables</a:t>
            </a:r>
            <a:br/>
            <a:r>
              <a:t>Metadata tables</a:t>
            </a:r>
          </a:p>
        </p:txBody>
      </p:sp>
      <p:sp>
        <p:nvSpPr>
          <p:cNvPr id="21" name="TextBox 20"/>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Data Movement</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Where the construction data actually goes</a:t>
            </a:r>
          </a:p>
        </p:txBody>
      </p:sp>
      <p:sp>
        <p:nvSpPr>
          <p:cNvPr id="5" name="Rounded Rectangle 4"/>
          <p:cNvSpPr/>
          <p:nvPr/>
        </p:nvSpPr>
        <p:spPr>
          <a:xfrm>
            <a:off x="685800" y="1828800"/>
            <a:ext cx="166116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1984248"/>
            <a:ext cx="1514856" cy="502920"/>
          </a:xfrm>
          <a:prstGeom prst="rect">
            <a:avLst/>
          </a:prstGeom>
          <a:noFill/>
        </p:spPr>
        <p:txBody>
          <a:bodyPr wrap="none">
            <a:spAutoFit/>
          </a:bodyPr>
          <a:lstStyle/>
          <a:p>
            <a:pPr algn="ctr">
              <a:defRPr sz="1200" b="1">
                <a:solidFill>
                  <a:srgbClr val="14243D"/>
                </a:solidFill>
              </a:defRPr>
            </a:pPr>
            <a:r>
              <a:t>ACC Data Connector</a:t>
            </a:r>
          </a:p>
        </p:txBody>
      </p:sp>
      <p:sp>
        <p:nvSpPr>
          <p:cNvPr id="7" name="Right Arrow 6"/>
          <p:cNvSpPr/>
          <p:nvPr/>
        </p:nvSpPr>
        <p:spPr>
          <a:xfrm>
            <a:off x="2374391"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11552" y="1828800"/>
            <a:ext cx="166116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84704" y="1984248"/>
            <a:ext cx="1514856" cy="502920"/>
          </a:xfrm>
          <a:prstGeom prst="rect">
            <a:avLst/>
          </a:prstGeom>
          <a:noFill/>
        </p:spPr>
        <p:txBody>
          <a:bodyPr wrap="none">
            <a:spAutoFit/>
          </a:bodyPr>
          <a:lstStyle/>
          <a:p>
            <a:pPr algn="ctr">
              <a:defRPr sz="1200" b="1">
                <a:solidFill>
                  <a:srgbClr val="14243D"/>
                </a:solidFill>
              </a:defRPr>
            </a:pPr>
            <a:r>
              <a:t>Signed CSV URLs</a:t>
            </a:r>
          </a:p>
        </p:txBody>
      </p:sp>
      <p:sp>
        <p:nvSpPr>
          <p:cNvPr id="10" name="Right Arrow 9"/>
          <p:cNvSpPr/>
          <p:nvPr/>
        </p:nvSpPr>
        <p:spPr>
          <a:xfrm>
            <a:off x="4200144"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37304" y="1828800"/>
            <a:ext cx="166116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10456" y="1984248"/>
            <a:ext cx="1514856" cy="502920"/>
          </a:xfrm>
          <a:prstGeom prst="rect">
            <a:avLst/>
          </a:prstGeom>
          <a:noFill/>
        </p:spPr>
        <p:txBody>
          <a:bodyPr wrap="none">
            <a:spAutoFit/>
          </a:bodyPr>
          <a:lstStyle/>
          <a:p>
            <a:pPr algn="ctr">
              <a:defRPr sz="1200" b="1">
                <a:solidFill>
                  <a:srgbClr val="14243D"/>
                </a:solidFill>
              </a:defRPr>
            </a:pPr>
            <a:r>
              <a:t>UC Volume</a:t>
            </a:r>
          </a:p>
        </p:txBody>
      </p:sp>
      <p:sp>
        <p:nvSpPr>
          <p:cNvPr id="13" name="Right Arrow 12"/>
          <p:cNvSpPr/>
          <p:nvPr/>
        </p:nvSpPr>
        <p:spPr>
          <a:xfrm>
            <a:off x="6025896"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63056" y="1828800"/>
            <a:ext cx="166116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36208" y="1984248"/>
            <a:ext cx="1514856" cy="502920"/>
          </a:xfrm>
          <a:prstGeom prst="rect">
            <a:avLst/>
          </a:prstGeom>
          <a:noFill/>
        </p:spPr>
        <p:txBody>
          <a:bodyPr wrap="none">
            <a:spAutoFit/>
          </a:bodyPr>
          <a:lstStyle/>
          <a:p>
            <a:pPr algn="ctr">
              <a:defRPr sz="1200" b="1">
                <a:solidFill>
                  <a:srgbClr val="14243D"/>
                </a:solidFill>
              </a:defRPr>
            </a:pPr>
            <a:r>
              <a:t>Seed PK / Schema</a:t>
            </a:r>
          </a:p>
        </p:txBody>
      </p:sp>
      <p:sp>
        <p:nvSpPr>
          <p:cNvPr id="16" name="Right Arrow 15"/>
          <p:cNvSpPr/>
          <p:nvPr/>
        </p:nvSpPr>
        <p:spPr>
          <a:xfrm>
            <a:off x="7851647"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988808" y="1828800"/>
            <a:ext cx="166116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61960" y="1984248"/>
            <a:ext cx="1514856" cy="502920"/>
          </a:xfrm>
          <a:prstGeom prst="rect">
            <a:avLst/>
          </a:prstGeom>
          <a:noFill/>
        </p:spPr>
        <p:txBody>
          <a:bodyPr wrap="none">
            <a:spAutoFit/>
          </a:bodyPr>
          <a:lstStyle/>
          <a:p>
            <a:pPr algn="ctr">
              <a:defRPr sz="1200" b="1">
                <a:solidFill>
                  <a:srgbClr val="14243D"/>
                </a:solidFill>
              </a:defRPr>
            </a:pPr>
            <a:r>
              <a:t>Lakeflow A / B</a:t>
            </a:r>
          </a:p>
        </p:txBody>
      </p:sp>
      <p:sp>
        <p:nvSpPr>
          <p:cNvPr id="19" name="Right Arrow 18"/>
          <p:cNvSpPr/>
          <p:nvPr/>
        </p:nvSpPr>
        <p:spPr>
          <a:xfrm>
            <a:off x="9677399"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814560" y="1828800"/>
            <a:ext cx="166116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87712" y="1984248"/>
            <a:ext cx="1514856" cy="502920"/>
          </a:xfrm>
          <a:prstGeom prst="rect">
            <a:avLst/>
          </a:prstGeom>
          <a:noFill/>
        </p:spPr>
        <p:txBody>
          <a:bodyPr wrap="none">
            <a:spAutoFit/>
          </a:bodyPr>
          <a:lstStyle/>
          <a:p>
            <a:pPr algn="ctr">
              <a:defRPr sz="1200" b="1">
                <a:solidFill>
                  <a:srgbClr val="14243D"/>
                </a:solidFill>
              </a:defRPr>
            </a:pPr>
            <a:r>
              <a:t>Bronze Delta</a:t>
            </a:r>
          </a:p>
        </p:txBody>
      </p:sp>
      <p:sp>
        <p:nvSpPr>
          <p:cNvPr id="22" name="TextBox 21"/>
          <p:cNvSpPr txBox="1"/>
          <p:nvPr/>
        </p:nvSpPr>
        <p:spPr>
          <a:xfrm>
            <a:off x="914400" y="3246120"/>
            <a:ext cx="10241280" cy="2194560"/>
          </a:xfrm>
          <a:prstGeom prst="rect">
            <a:avLst/>
          </a:prstGeom>
          <a:noFill/>
        </p:spPr>
        <p:txBody>
          <a:bodyPr wrap="square">
            <a:spAutoFit/>
          </a:bodyPr>
          <a:lstStyle/>
          <a:p>
            <a:pPr>
              <a:spcAft>
                <a:spcPts val="900"/>
              </a:spcAft>
              <a:defRPr sz="1700" b="0">
                <a:solidFill>
                  <a:srgbClr val="2D323A"/>
                </a:solidFill>
              </a:defRPr>
            </a:pPr>
            <a:r>
              <a:t>Snapshot sync establishes the baseline and runs the snapshot pipeline plus CDC pipeline.</a:t>
            </a:r>
          </a:p>
          <a:p>
            <a:pPr>
              <a:spcAft>
                <a:spcPts val="900"/>
              </a:spcAft>
              <a:defRPr sz="1700" b="0">
                <a:solidFill>
                  <a:srgbClr val="2D323A"/>
                </a:solidFill>
              </a:defRPr>
            </a:pPr>
            <a:r>
              <a:t>CDC sync requests one incremental export and runs the delta pipeline.</a:t>
            </a:r>
          </a:p>
          <a:p>
            <a:pPr>
              <a:spcAft>
                <a:spcPts val="900"/>
              </a:spcAft>
              <a:defRPr sz="1700" b="0">
                <a:solidFill>
                  <a:srgbClr val="2D323A"/>
                </a:solidFill>
              </a:defRPr>
            </a:pPr>
            <a:r>
              <a:t>Successful runs commit watermarks; failed runs do not advance them, protecting against skipped data.</a:t>
            </a:r>
          </a:p>
        </p:txBody>
      </p:sp>
      <p:sp>
        <p:nvSpPr>
          <p:cNvPr id="23" name="TextBox 22"/>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Provisioning &amp; Bootstrap</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One-click provisioning creates the ingestion factory inside the customer workspace</a:t>
            </a:r>
          </a:p>
        </p:txBody>
      </p:sp>
      <p:sp>
        <p:nvSpPr>
          <p:cNvPr id="5" name="TextBox 4"/>
          <p:cNvSpPr txBox="1"/>
          <p:nvPr/>
        </p:nvSpPr>
        <p:spPr>
          <a:xfrm>
            <a:off x="777240" y="1371600"/>
            <a:ext cx="6675120" cy="4480560"/>
          </a:xfrm>
          <a:prstGeom prst="rect">
            <a:avLst/>
          </a:prstGeom>
          <a:noFill/>
        </p:spPr>
        <p:txBody>
          <a:bodyPr wrap="square">
            <a:spAutoFit/>
          </a:bodyPr>
          <a:lstStyle/>
          <a:p>
            <a:pPr>
              <a:spcAft>
                <a:spcPts val="900"/>
              </a:spcAft>
              <a:defRPr sz="1700" b="0">
                <a:solidFill>
                  <a:srgbClr val="2D323A"/>
                </a:solidFill>
              </a:defRPr>
            </a:pPr>
            <a:r>
              <a:t>Validate Databricks workspace and catalog access.</a:t>
            </a:r>
          </a:p>
          <a:p>
            <a:pPr>
              <a:spcAft>
                <a:spcPts val="900"/>
              </a:spcAft>
              <a:defRPr sz="1700" b="0">
                <a:solidFill>
                  <a:srgbClr val="2D323A"/>
                </a:solidFill>
              </a:defRPr>
            </a:pPr>
            <a:r>
              <a:t>Atomically claim the catalog to prevent cross-user collisions.</a:t>
            </a:r>
          </a:p>
          <a:p>
            <a:pPr>
              <a:spcAft>
                <a:spcPts val="900"/>
              </a:spcAft>
              <a:defRPr sz="1700" b="0">
                <a:solidFill>
                  <a:srgbClr val="2D323A"/>
                </a:solidFill>
              </a:defRPr>
            </a:pPr>
            <a:r>
              <a:t>Create Bronze schema, volume and metadata tables.</a:t>
            </a:r>
          </a:p>
          <a:p>
            <a:pPr>
              <a:spcAft>
                <a:spcPts val="900"/>
              </a:spcAft>
              <a:defRPr sz="1700" b="0">
                <a:solidFill>
                  <a:srgbClr val="2D323A"/>
                </a:solidFill>
              </a:defRPr>
            </a:pPr>
            <a:r>
              <a:t>Upload notebooks and configure deterministic artifact names.</a:t>
            </a:r>
          </a:p>
          <a:p>
            <a:pPr>
              <a:spcAft>
                <a:spcPts val="900"/>
              </a:spcAft>
              <a:defRPr sz="1700" b="0">
                <a:solidFill>
                  <a:srgbClr val="2D323A"/>
                </a:solidFill>
              </a:defRPr>
            </a:pPr>
            <a:r>
              <a:t>Create jobs, Pipeline A, Pipeline B and sync workflows.</a:t>
            </a:r>
          </a:p>
          <a:p>
            <a:pPr>
              <a:spcAft>
                <a:spcPts val="900"/>
              </a:spcAft>
              <a:defRPr sz="1700" b="0">
                <a:solidFill>
                  <a:srgbClr val="2D323A"/>
                </a:solidFill>
              </a:defRPr>
            </a:pPr>
            <a:r>
              <a:t>Persist bootstrap progress so the UI can poll and recover from page refresh.</a:t>
            </a:r>
          </a:p>
        </p:txBody>
      </p:sp>
      <p:sp>
        <p:nvSpPr>
          <p:cNvPr id="6" name="Rounded Rectangle 5"/>
          <p:cNvSpPr/>
          <p:nvPr/>
        </p:nvSpPr>
        <p:spPr>
          <a:xfrm>
            <a:off x="7818120" y="1417320"/>
            <a:ext cx="3474720" cy="39319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818120" y="1417320"/>
            <a:ext cx="73152" cy="393192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19288" y="1581912"/>
            <a:ext cx="3108960" cy="365760"/>
          </a:xfrm>
          <a:prstGeom prst="rect">
            <a:avLst/>
          </a:prstGeom>
          <a:noFill/>
        </p:spPr>
        <p:txBody>
          <a:bodyPr wrap="none">
            <a:spAutoFit/>
          </a:bodyPr>
          <a:lstStyle/>
          <a:p>
            <a:pPr>
              <a:defRPr sz="1600" b="1">
                <a:solidFill>
                  <a:srgbClr val="14243D"/>
                </a:solidFill>
              </a:defRPr>
            </a:pPr>
            <a:r>
              <a:t>Design principles</a:t>
            </a:r>
          </a:p>
        </p:txBody>
      </p:sp>
      <p:sp>
        <p:nvSpPr>
          <p:cNvPr id="9" name="TextBox 8"/>
          <p:cNvSpPr txBox="1"/>
          <p:nvPr/>
        </p:nvSpPr>
        <p:spPr>
          <a:xfrm>
            <a:off x="8019288" y="2011680"/>
            <a:ext cx="3108960" cy="3200400"/>
          </a:xfrm>
          <a:prstGeom prst="rect">
            <a:avLst/>
          </a:prstGeom>
          <a:noFill/>
        </p:spPr>
        <p:txBody>
          <a:bodyPr wrap="square">
            <a:spAutoFit/>
          </a:bodyPr>
          <a:lstStyle/>
          <a:p>
            <a:pPr>
              <a:defRPr sz="1250">
                <a:solidFill>
                  <a:srgbClr val="2D323A"/>
                </a:solidFill>
              </a:defRPr>
            </a:pPr>
            <a:r>
              <a:t>Idempotent</a:t>
            </a:r>
            <a:br/>
            <a:br/>
            <a:r>
              <a:t>Catalog-scoped naming</a:t>
            </a:r>
            <a:br/>
            <a:br/>
            <a:r>
              <a:t>Explicit ownership</a:t>
            </a:r>
            <a:br/>
            <a:br/>
            <a:r>
              <a:t>Persisted progress</a:t>
            </a:r>
            <a:br/>
            <a:br/>
            <a:r>
              <a:t>Safe retry behavior</a:t>
            </a:r>
          </a:p>
        </p:txBody>
      </p:sp>
      <p:sp>
        <p:nvSpPr>
          <p:cNvPr id="10" name="TextBox 9"/>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Snapshot vs. CDC</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Two ingestion patterns cover the different ACC data domains</a:t>
            </a:r>
          </a:p>
        </p:txBody>
      </p:sp>
      <p:sp>
        <p:nvSpPr>
          <p:cNvPr id="5" name="Rounded Rectangle 4"/>
          <p:cNvSpPr/>
          <p:nvPr/>
        </p:nvSpPr>
        <p:spPr>
          <a:xfrm>
            <a:off x="731520" y="1508760"/>
            <a:ext cx="5074920" cy="356616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508760"/>
            <a:ext cx="73152" cy="356616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673351"/>
            <a:ext cx="4709159" cy="365760"/>
          </a:xfrm>
          <a:prstGeom prst="rect">
            <a:avLst/>
          </a:prstGeom>
          <a:noFill/>
        </p:spPr>
        <p:txBody>
          <a:bodyPr wrap="none">
            <a:spAutoFit/>
          </a:bodyPr>
          <a:lstStyle/>
          <a:p>
            <a:pPr>
              <a:defRPr sz="1600" b="1">
                <a:solidFill>
                  <a:srgbClr val="14243D"/>
                </a:solidFill>
              </a:defRPr>
            </a:pPr>
            <a:r>
              <a:t>Snapshot / Full Sync</a:t>
            </a:r>
          </a:p>
        </p:txBody>
      </p:sp>
      <p:sp>
        <p:nvSpPr>
          <p:cNvPr id="8" name="TextBox 7"/>
          <p:cNvSpPr txBox="1"/>
          <p:nvPr/>
        </p:nvSpPr>
        <p:spPr>
          <a:xfrm>
            <a:off x="932688" y="2103120"/>
            <a:ext cx="4709159" cy="2834639"/>
          </a:xfrm>
          <a:prstGeom prst="rect">
            <a:avLst/>
          </a:prstGeom>
          <a:noFill/>
        </p:spPr>
        <p:txBody>
          <a:bodyPr wrap="square">
            <a:spAutoFit/>
          </a:bodyPr>
          <a:lstStyle/>
          <a:p>
            <a:pPr>
              <a:defRPr sz="1250">
                <a:solidFill>
                  <a:srgbClr val="2D323A"/>
                </a:solidFill>
              </a:defRPr>
            </a:pPr>
            <a:r>
              <a:t>• Baseline for the selected project</a:t>
            </a:r>
            <a:br/>
            <a:r>
              <a:t>• Snapshot-only groups + CDC groups for baseline</a:t>
            </a:r>
            <a:br/>
            <a:r>
              <a:t>• Pipeline A processes snapshots</a:t>
            </a:r>
            <a:br/>
            <a:r>
              <a:t>• Pipeline B establishes/updates CDC state</a:t>
            </a:r>
            <a:br/>
            <a:r>
              <a:t>• Used for initial load and refresh</a:t>
            </a:r>
          </a:p>
        </p:txBody>
      </p:sp>
      <p:sp>
        <p:nvSpPr>
          <p:cNvPr id="9" name="Rounded Rectangle 8"/>
          <p:cNvSpPr/>
          <p:nvPr/>
        </p:nvSpPr>
        <p:spPr>
          <a:xfrm>
            <a:off x="6355080" y="1508760"/>
            <a:ext cx="5074920" cy="356616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55080" y="1508760"/>
            <a:ext cx="73152" cy="356616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56248" y="1673351"/>
            <a:ext cx="4709159" cy="365760"/>
          </a:xfrm>
          <a:prstGeom prst="rect">
            <a:avLst/>
          </a:prstGeom>
          <a:noFill/>
        </p:spPr>
        <p:txBody>
          <a:bodyPr wrap="none">
            <a:spAutoFit/>
          </a:bodyPr>
          <a:lstStyle/>
          <a:p>
            <a:pPr>
              <a:defRPr sz="1600" b="1">
                <a:solidFill>
                  <a:srgbClr val="14243D"/>
                </a:solidFill>
              </a:defRPr>
            </a:pPr>
            <a:r>
              <a:t>Incremental CDC</a:t>
            </a:r>
          </a:p>
        </p:txBody>
      </p:sp>
      <p:sp>
        <p:nvSpPr>
          <p:cNvPr id="12" name="TextBox 11"/>
          <p:cNvSpPr txBox="1"/>
          <p:nvPr/>
        </p:nvSpPr>
        <p:spPr>
          <a:xfrm>
            <a:off x="6556248" y="2103120"/>
            <a:ext cx="4709159" cy="2834639"/>
          </a:xfrm>
          <a:prstGeom prst="rect">
            <a:avLst/>
          </a:prstGeom>
          <a:noFill/>
        </p:spPr>
        <p:txBody>
          <a:bodyPr wrap="square">
            <a:spAutoFit/>
          </a:bodyPr>
          <a:lstStyle/>
          <a:p>
            <a:pPr>
              <a:defRPr sz="1250">
                <a:solidFill>
                  <a:srgbClr val="2D323A"/>
                </a:solidFill>
              </a:defRPr>
            </a:pPr>
            <a:r>
              <a:t>• Designed for change-tracked groups</a:t>
            </a:r>
            <a:br/>
            <a:r>
              <a:t>• One CDC export per run</a:t>
            </a:r>
            <a:br/>
            <a:r>
              <a:t>• Pipeline B processes changes</a:t>
            </a:r>
            <a:br/>
            <a:r>
              <a:t>• Requires a snapshot baseline</a:t>
            </a:r>
            <a:br/>
            <a:r>
              <a:t>• Can run on a daily schedule</a:t>
            </a:r>
          </a:p>
        </p:txBody>
      </p:sp>
      <p:sp>
        <p:nvSpPr>
          <p:cNvPr id="13" name="Rounded Rectangle 12"/>
          <p:cNvSpPr/>
          <p:nvPr/>
        </p:nvSpPr>
        <p:spPr>
          <a:xfrm>
            <a:off x="2148840" y="5394960"/>
            <a:ext cx="7909560" cy="59436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148840" y="5394960"/>
            <a:ext cx="73152" cy="59436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50008" y="5559552"/>
            <a:ext cx="7543800" cy="365760"/>
          </a:xfrm>
          <a:prstGeom prst="rect">
            <a:avLst/>
          </a:prstGeom>
          <a:noFill/>
        </p:spPr>
        <p:txBody>
          <a:bodyPr wrap="none">
            <a:spAutoFit/>
          </a:bodyPr>
          <a:lstStyle/>
          <a:p>
            <a:pPr>
              <a:defRPr sz="1600" b="1">
                <a:solidFill>
                  <a:srgbClr val="14243D"/>
                </a:solidFill>
              </a:defRPr>
            </a:pPr>
            <a:r>
              <a:t>Safety</a:t>
            </a:r>
          </a:p>
        </p:txBody>
      </p:sp>
      <p:sp>
        <p:nvSpPr>
          <p:cNvPr id="16" name="TextBox 15"/>
          <p:cNvSpPr txBox="1"/>
          <p:nvPr/>
        </p:nvSpPr>
        <p:spPr>
          <a:xfrm>
            <a:off x="2350008" y="5989320"/>
            <a:ext cx="7543800" cy="0"/>
          </a:xfrm>
          <a:prstGeom prst="rect">
            <a:avLst/>
          </a:prstGeom>
          <a:noFill/>
        </p:spPr>
        <p:txBody>
          <a:bodyPr wrap="square">
            <a:spAutoFit/>
          </a:bodyPr>
          <a:lstStyle/>
          <a:p>
            <a:pPr>
              <a:defRPr sz="1250">
                <a:solidFill>
                  <a:srgbClr val="2D323A"/>
                </a:solidFill>
              </a:defRPr>
            </a:pPr>
            <a:r>
              <a:t>Watermarks are anchored to the last successful run; a failed sync does not silently skip a time window.</a:t>
            </a:r>
          </a:p>
        </p:txBody>
      </p:sp>
      <p:sp>
        <p:nvSpPr>
          <p:cNvPr id="17" name="TextBox 16"/>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Security &amp; Data Governance</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The architecture intentionally separates credentials/state from customer construction data</a:t>
            </a:r>
          </a:p>
        </p:txBody>
      </p:sp>
      <p:sp>
        <p:nvSpPr>
          <p:cNvPr id="5" name="Rounded Rectangle 4"/>
          <p:cNvSpPr/>
          <p:nvPr/>
        </p:nvSpPr>
        <p:spPr>
          <a:xfrm>
            <a:off x="640080" y="1417320"/>
            <a:ext cx="3383280" cy="41148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417320"/>
            <a:ext cx="73152" cy="411480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581912"/>
            <a:ext cx="3017520" cy="365760"/>
          </a:xfrm>
          <a:prstGeom prst="rect">
            <a:avLst/>
          </a:prstGeom>
          <a:noFill/>
        </p:spPr>
        <p:txBody>
          <a:bodyPr wrap="none">
            <a:spAutoFit/>
          </a:bodyPr>
          <a:lstStyle/>
          <a:p>
            <a:pPr>
              <a:defRPr sz="1600" b="1">
                <a:solidFill>
                  <a:srgbClr val="14243D"/>
                </a:solidFill>
              </a:defRPr>
            </a:pPr>
            <a:r>
              <a:t>Customer Databricks</a:t>
            </a:r>
          </a:p>
        </p:txBody>
      </p:sp>
      <p:sp>
        <p:nvSpPr>
          <p:cNvPr id="8" name="TextBox 7"/>
          <p:cNvSpPr txBox="1"/>
          <p:nvPr/>
        </p:nvSpPr>
        <p:spPr>
          <a:xfrm>
            <a:off x="841247" y="2011680"/>
            <a:ext cx="3017520" cy="3383280"/>
          </a:xfrm>
          <a:prstGeom prst="rect">
            <a:avLst/>
          </a:prstGeom>
          <a:noFill/>
        </p:spPr>
        <p:txBody>
          <a:bodyPr wrap="square">
            <a:spAutoFit/>
          </a:bodyPr>
          <a:lstStyle/>
          <a:p>
            <a:pPr>
              <a:defRPr sz="1250">
                <a:solidFill>
                  <a:srgbClr val="2D323A"/>
                </a:solidFill>
              </a:defRPr>
            </a:pPr>
            <a:r>
              <a:t>Construction data</a:t>
            </a:r>
            <a:br/>
            <a:br/>
            <a:r>
              <a:t>Bronze Delta tables</a:t>
            </a:r>
            <a:br/>
            <a:br/>
            <a:r>
              <a:t>Unity Catalog governance</a:t>
            </a:r>
            <a:br/>
            <a:br/>
            <a:r>
              <a:t>Pipelines and jobs</a:t>
            </a:r>
            <a:br/>
            <a:br/>
            <a:r>
              <a:t>Customer-controlled workspace</a:t>
            </a:r>
          </a:p>
        </p:txBody>
      </p:sp>
      <p:sp>
        <p:nvSpPr>
          <p:cNvPr id="9" name="Rounded Rectangle 8"/>
          <p:cNvSpPr/>
          <p:nvPr/>
        </p:nvSpPr>
        <p:spPr>
          <a:xfrm>
            <a:off x="4407408" y="1417320"/>
            <a:ext cx="3383280" cy="41148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07408" y="1417320"/>
            <a:ext cx="73152" cy="41148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08576" y="1581912"/>
            <a:ext cx="3017520" cy="365760"/>
          </a:xfrm>
          <a:prstGeom prst="rect">
            <a:avLst/>
          </a:prstGeom>
          <a:noFill/>
        </p:spPr>
        <p:txBody>
          <a:bodyPr wrap="none">
            <a:spAutoFit/>
          </a:bodyPr>
          <a:lstStyle/>
          <a:p>
            <a:pPr>
              <a:defRPr sz="1600" b="1">
                <a:solidFill>
                  <a:srgbClr val="14243D"/>
                </a:solidFill>
              </a:defRPr>
            </a:pPr>
            <a:r>
              <a:t>Connector Persistence</a:t>
            </a:r>
          </a:p>
        </p:txBody>
      </p:sp>
      <p:sp>
        <p:nvSpPr>
          <p:cNvPr id="12" name="TextBox 11"/>
          <p:cNvSpPr txBox="1"/>
          <p:nvPr/>
        </p:nvSpPr>
        <p:spPr>
          <a:xfrm>
            <a:off x="4608576" y="2011680"/>
            <a:ext cx="3017520" cy="3383280"/>
          </a:xfrm>
          <a:prstGeom prst="rect">
            <a:avLst/>
          </a:prstGeom>
          <a:noFill/>
        </p:spPr>
        <p:txBody>
          <a:bodyPr wrap="square">
            <a:spAutoFit/>
          </a:bodyPr>
          <a:lstStyle/>
          <a:p>
            <a:pPr>
              <a:defRPr sz="1250">
                <a:solidFill>
                  <a:srgbClr val="2D323A"/>
                </a:solidFill>
              </a:defRPr>
            </a:pPr>
            <a:r>
              <a:t>Encrypted ACC + Databricks tokens</a:t>
            </a:r>
            <a:br/>
            <a:br/>
            <a:r>
              <a:t>User/project selections</a:t>
            </a:r>
            <a:br/>
            <a:br/>
            <a:r>
              <a:t>Bootstrap state</a:t>
            </a:r>
            <a:br/>
            <a:br/>
            <a:r>
              <a:t>Sync runs</a:t>
            </a:r>
            <a:br/>
            <a:br/>
            <a:r>
              <a:t>Watermarks</a:t>
            </a:r>
            <a:br/>
            <a:br/>
            <a:r>
              <a:t>No ACC row tables by design</a:t>
            </a:r>
          </a:p>
        </p:txBody>
      </p:sp>
      <p:sp>
        <p:nvSpPr>
          <p:cNvPr id="13" name="Rounded Rectangle 12"/>
          <p:cNvSpPr/>
          <p:nvPr/>
        </p:nvSpPr>
        <p:spPr>
          <a:xfrm>
            <a:off x="8174736" y="1417320"/>
            <a:ext cx="3383280" cy="41148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74736" y="1417320"/>
            <a:ext cx="73152" cy="411480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75904" y="1581912"/>
            <a:ext cx="3017520" cy="365760"/>
          </a:xfrm>
          <a:prstGeom prst="rect">
            <a:avLst/>
          </a:prstGeom>
          <a:noFill/>
        </p:spPr>
        <p:txBody>
          <a:bodyPr wrap="none">
            <a:spAutoFit/>
          </a:bodyPr>
          <a:lstStyle/>
          <a:p>
            <a:pPr>
              <a:defRPr sz="1600" b="1">
                <a:solidFill>
                  <a:srgbClr val="14243D"/>
                </a:solidFill>
              </a:defRPr>
            </a:pPr>
            <a:r>
              <a:t>Authorization</a:t>
            </a:r>
          </a:p>
        </p:txBody>
      </p:sp>
      <p:sp>
        <p:nvSpPr>
          <p:cNvPr id="16" name="TextBox 15"/>
          <p:cNvSpPr txBox="1"/>
          <p:nvPr/>
        </p:nvSpPr>
        <p:spPr>
          <a:xfrm>
            <a:off x="8375904" y="2011680"/>
            <a:ext cx="3017520" cy="3383280"/>
          </a:xfrm>
          <a:prstGeom prst="rect">
            <a:avLst/>
          </a:prstGeom>
          <a:noFill/>
        </p:spPr>
        <p:txBody>
          <a:bodyPr wrap="square">
            <a:spAutoFit/>
          </a:bodyPr>
          <a:lstStyle/>
          <a:p>
            <a:pPr>
              <a:defRPr sz="1250">
                <a:solidFill>
                  <a:srgbClr val="2D323A"/>
                </a:solidFill>
              </a:defRPr>
            </a:pPr>
            <a:r>
              <a:t>APS 3-legged OAuth</a:t>
            </a:r>
            <a:br/>
            <a:br/>
            <a:r>
              <a:t>Databricks OIDC OAuth</a:t>
            </a:r>
            <a:br/>
            <a:br/>
            <a:r>
              <a:t>Session-scoped user identity</a:t>
            </a:r>
            <a:br/>
            <a:br/>
            <a:r>
              <a:t>Catalog claim prevents collisions</a:t>
            </a:r>
            <a:br/>
            <a:br/>
            <a:r>
              <a:t>Fernet encryption at rest</a:t>
            </a:r>
          </a:p>
        </p:txBody>
      </p:sp>
      <p:sp>
        <p:nvSpPr>
          <p:cNvPr id="17" name="TextBox 16"/>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Technology Stack</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Current implementation reflected in the analyzed repository</a:t>
            </a:r>
          </a:p>
        </p:txBody>
      </p:sp>
      <p:sp>
        <p:nvSpPr>
          <p:cNvPr id="5" name="Rounded Rectangle 4"/>
          <p:cNvSpPr/>
          <p:nvPr/>
        </p:nvSpPr>
        <p:spPr>
          <a:xfrm>
            <a:off x="822960" y="1280160"/>
            <a:ext cx="2468880" cy="4572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280160"/>
            <a:ext cx="73152" cy="4572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44751"/>
            <a:ext cx="2103120" cy="365760"/>
          </a:xfrm>
          <a:prstGeom prst="rect">
            <a:avLst/>
          </a:prstGeom>
          <a:noFill/>
        </p:spPr>
        <p:txBody>
          <a:bodyPr wrap="none">
            <a:spAutoFit/>
          </a:bodyPr>
          <a:lstStyle/>
          <a:p>
            <a:pPr>
              <a:defRPr sz="1600" b="1">
                <a:solidFill>
                  <a:srgbClr val="14243D"/>
                </a:solidFill>
              </a:defRPr>
            </a:pPr>
            <a:r>
              <a:t>Application</a:t>
            </a:r>
          </a:p>
        </p:txBody>
      </p:sp>
      <p:sp>
        <p:nvSpPr>
          <p:cNvPr id="8" name="TextBox 7"/>
          <p:cNvSpPr txBox="1"/>
          <p:nvPr/>
        </p:nvSpPr>
        <p:spPr>
          <a:xfrm>
            <a:off x="1024128" y="1874519"/>
            <a:ext cx="2103120" cy="0"/>
          </a:xfrm>
          <a:prstGeom prst="rect">
            <a:avLst/>
          </a:prstGeom>
          <a:noFill/>
        </p:spPr>
        <p:txBody>
          <a:bodyPr wrap="square">
            <a:spAutoFit/>
          </a:bodyPr>
          <a:lstStyle/>
          <a:p>
            <a:pPr>
              <a:defRPr sz="1250">
                <a:solidFill>
                  <a:srgbClr val="2D323A"/>
                </a:solidFill>
              </a:defRPr>
            </a:pPr>
            <a:endParaRPr/>
          </a:p>
        </p:txBody>
      </p:sp>
      <p:sp>
        <p:nvSpPr>
          <p:cNvPr id="9" name="TextBox 8"/>
          <p:cNvSpPr txBox="1"/>
          <p:nvPr/>
        </p:nvSpPr>
        <p:spPr>
          <a:xfrm>
            <a:off x="3520440" y="1353312"/>
            <a:ext cx="7680960" cy="320040"/>
          </a:xfrm>
          <a:prstGeom prst="rect">
            <a:avLst/>
          </a:prstGeom>
          <a:noFill/>
        </p:spPr>
        <p:txBody>
          <a:bodyPr wrap="none">
            <a:spAutoFit/>
          </a:bodyPr>
          <a:lstStyle/>
          <a:p>
            <a:pPr>
              <a:defRPr sz="1400">
                <a:solidFill>
                  <a:srgbClr val="2D323A"/>
                </a:solidFill>
              </a:defRPr>
            </a:pPr>
            <a:r>
              <a:t>Python 3.11 + Flask 3.0</a:t>
            </a:r>
          </a:p>
        </p:txBody>
      </p:sp>
      <p:sp>
        <p:nvSpPr>
          <p:cNvPr id="10" name="Rounded Rectangle 9"/>
          <p:cNvSpPr/>
          <p:nvPr/>
        </p:nvSpPr>
        <p:spPr>
          <a:xfrm>
            <a:off x="822960" y="1847088"/>
            <a:ext cx="2468880" cy="4572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1847088"/>
            <a:ext cx="73152" cy="4572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2011680"/>
            <a:ext cx="2103120" cy="365760"/>
          </a:xfrm>
          <a:prstGeom prst="rect">
            <a:avLst/>
          </a:prstGeom>
          <a:noFill/>
        </p:spPr>
        <p:txBody>
          <a:bodyPr wrap="none">
            <a:spAutoFit/>
          </a:bodyPr>
          <a:lstStyle/>
          <a:p>
            <a:pPr>
              <a:defRPr sz="1600" b="1">
                <a:solidFill>
                  <a:srgbClr val="14243D"/>
                </a:solidFill>
              </a:defRPr>
            </a:pPr>
            <a:r>
              <a:t>Web serving</a:t>
            </a:r>
          </a:p>
        </p:txBody>
      </p:sp>
      <p:sp>
        <p:nvSpPr>
          <p:cNvPr id="13" name="TextBox 12"/>
          <p:cNvSpPr txBox="1"/>
          <p:nvPr/>
        </p:nvSpPr>
        <p:spPr>
          <a:xfrm>
            <a:off x="1024128" y="2441448"/>
            <a:ext cx="2103120" cy="0"/>
          </a:xfrm>
          <a:prstGeom prst="rect">
            <a:avLst/>
          </a:prstGeom>
          <a:noFill/>
        </p:spPr>
        <p:txBody>
          <a:bodyPr wrap="square">
            <a:spAutoFit/>
          </a:bodyPr>
          <a:lstStyle/>
          <a:p>
            <a:pPr>
              <a:defRPr sz="1250">
                <a:solidFill>
                  <a:srgbClr val="2D323A"/>
                </a:solidFill>
              </a:defRPr>
            </a:pPr>
            <a:endParaRPr/>
          </a:p>
        </p:txBody>
      </p:sp>
      <p:sp>
        <p:nvSpPr>
          <p:cNvPr id="14" name="TextBox 13"/>
          <p:cNvSpPr txBox="1"/>
          <p:nvPr/>
        </p:nvSpPr>
        <p:spPr>
          <a:xfrm>
            <a:off x="3520440" y="1920240"/>
            <a:ext cx="7680960" cy="320040"/>
          </a:xfrm>
          <a:prstGeom prst="rect">
            <a:avLst/>
          </a:prstGeom>
          <a:noFill/>
        </p:spPr>
        <p:txBody>
          <a:bodyPr wrap="none">
            <a:spAutoFit/>
          </a:bodyPr>
          <a:lstStyle/>
          <a:p>
            <a:pPr>
              <a:defRPr sz="1400">
                <a:solidFill>
                  <a:srgbClr val="2D323A"/>
                </a:solidFill>
              </a:defRPr>
            </a:pPr>
            <a:r>
              <a:t>gunicorn + nginx</a:t>
            </a:r>
          </a:p>
        </p:txBody>
      </p:sp>
      <p:sp>
        <p:nvSpPr>
          <p:cNvPr id="15" name="Rounded Rectangle 14"/>
          <p:cNvSpPr/>
          <p:nvPr/>
        </p:nvSpPr>
        <p:spPr>
          <a:xfrm>
            <a:off x="822960" y="2414015"/>
            <a:ext cx="2468880" cy="4572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 y="2414015"/>
            <a:ext cx="73152" cy="4572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4128" y="2578608"/>
            <a:ext cx="2103120" cy="365760"/>
          </a:xfrm>
          <a:prstGeom prst="rect">
            <a:avLst/>
          </a:prstGeom>
          <a:noFill/>
        </p:spPr>
        <p:txBody>
          <a:bodyPr wrap="none">
            <a:spAutoFit/>
          </a:bodyPr>
          <a:lstStyle/>
          <a:p>
            <a:pPr>
              <a:defRPr sz="1600" b="1">
                <a:solidFill>
                  <a:srgbClr val="14243D"/>
                </a:solidFill>
              </a:defRPr>
            </a:pPr>
            <a:r>
              <a:t>Frontend</a:t>
            </a:r>
          </a:p>
        </p:txBody>
      </p:sp>
      <p:sp>
        <p:nvSpPr>
          <p:cNvPr id="18" name="TextBox 17"/>
          <p:cNvSpPr txBox="1"/>
          <p:nvPr/>
        </p:nvSpPr>
        <p:spPr>
          <a:xfrm>
            <a:off x="1024128" y="3008375"/>
            <a:ext cx="2103120" cy="0"/>
          </a:xfrm>
          <a:prstGeom prst="rect">
            <a:avLst/>
          </a:prstGeom>
          <a:noFill/>
        </p:spPr>
        <p:txBody>
          <a:bodyPr wrap="square">
            <a:spAutoFit/>
          </a:bodyPr>
          <a:lstStyle/>
          <a:p>
            <a:pPr>
              <a:defRPr sz="1250">
                <a:solidFill>
                  <a:srgbClr val="2D323A"/>
                </a:solidFill>
              </a:defRPr>
            </a:pPr>
            <a:endParaRPr/>
          </a:p>
        </p:txBody>
      </p:sp>
      <p:sp>
        <p:nvSpPr>
          <p:cNvPr id="19" name="TextBox 18"/>
          <p:cNvSpPr txBox="1"/>
          <p:nvPr/>
        </p:nvSpPr>
        <p:spPr>
          <a:xfrm>
            <a:off x="3520440" y="2487168"/>
            <a:ext cx="7680960" cy="320040"/>
          </a:xfrm>
          <a:prstGeom prst="rect">
            <a:avLst/>
          </a:prstGeom>
          <a:noFill/>
        </p:spPr>
        <p:txBody>
          <a:bodyPr wrap="none">
            <a:spAutoFit/>
          </a:bodyPr>
          <a:lstStyle/>
          <a:p>
            <a:pPr>
              <a:defRPr sz="1400">
                <a:solidFill>
                  <a:srgbClr val="2D323A"/>
                </a:solidFill>
              </a:defRPr>
            </a:pPr>
            <a:r>
              <a:t>JavaScript / vanilla JS</a:t>
            </a:r>
          </a:p>
        </p:txBody>
      </p:sp>
      <p:sp>
        <p:nvSpPr>
          <p:cNvPr id="20" name="Rounded Rectangle 19"/>
          <p:cNvSpPr/>
          <p:nvPr/>
        </p:nvSpPr>
        <p:spPr>
          <a:xfrm>
            <a:off x="822960" y="2980944"/>
            <a:ext cx="2468880" cy="4572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 y="2980944"/>
            <a:ext cx="73152" cy="4572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8" y="3145536"/>
            <a:ext cx="2103120" cy="365760"/>
          </a:xfrm>
          <a:prstGeom prst="rect">
            <a:avLst/>
          </a:prstGeom>
          <a:noFill/>
        </p:spPr>
        <p:txBody>
          <a:bodyPr wrap="none">
            <a:spAutoFit/>
          </a:bodyPr>
          <a:lstStyle/>
          <a:p>
            <a:pPr>
              <a:defRPr sz="1600" b="1">
                <a:solidFill>
                  <a:srgbClr val="14243D"/>
                </a:solidFill>
              </a:defRPr>
            </a:pPr>
            <a:r>
              <a:t>Persistence</a:t>
            </a:r>
          </a:p>
        </p:txBody>
      </p:sp>
      <p:sp>
        <p:nvSpPr>
          <p:cNvPr id="23" name="TextBox 22"/>
          <p:cNvSpPr txBox="1"/>
          <p:nvPr/>
        </p:nvSpPr>
        <p:spPr>
          <a:xfrm>
            <a:off x="1024128" y="3575303"/>
            <a:ext cx="2103120" cy="0"/>
          </a:xfrm>
          <a:prstGeom prst="rect">
            <a:avLst/>
          </a:prstGeom>
          <a:noFill/>
        </p:spPr>
        <p:txBody>
          <a:bodyPr wrap="square">
            <a:spAutoFit/>
          </a:bodyPr>
          <a:lstStyle/>
          <a:p>
            <a:pPr>
              <a:defRPr sz="1250">
                <a:solidFill>
                  <a:srgbClr val="2D323A"/>
                </a:solidFill>
              </a:defRPr>
            </a:pPr>
            <a:endParaRPr/>
          </a:p>
        </p:txBody>
      </p:sp>
      <p:sp>
        <p:nvSpPr>
          <p:cNvPr id="24" name="TextBox 23"/>
          <p:cNvSpPr txBox="1"/>
          <p:nvPr/>
        </p:nvSpPr>
        <p:spPr>
          <a:xfrm>
            <a:off x="3520440" y="3054096"/>
            <a:ext cx="7680960" cy="320040"/>
          </a:xfrm>
          <a:prstGeom prst="rect">
            <a:avLst/>
          </a:prstGeom>
          <a:noFill/>
        </p:spPr>
        <p:txBody>
          <a:bodyPr wrap="none">
            <a:spAutoFit/>
          </a:bodyPr>
          <a:lstStyle/>
          <a:p>
            <a:pPr>
              <a:defRPr sz="1400">
                <a:solidFill>
                  <a:srgbClr val="2D323A"/>
                </a:solidFill>
              </a:defRPr>
            </a:pPr>
            <a:r>
              <a:t>SQLite (dev) / PostgreSQL option (prod)</a:t>
            </a:r>
          </a:p>
        </p:txBody>
      </p:sp>
      <p:sp>
        <p:nvSpPr>
          <p:cNvPr id="25" name="Rounded Rectangle 24"/>
          <p:cNvSpPr/>
          <p:nvPr/>
        </p:nvSpPr>
        <p:spPr>
          <a:xfrm>
            <a:off x="822960" y="3547872"/>
            <a:ext cx="2468880" cy="4572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2960" y="3547872"/>
            <a:ext cx="73152" cy="4572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4128" y="3712463"/>
            <a:ext cx="2103120" cy="365760"/>
          </a:xfrm>
          <a:prstGeom prst="rect">
            <a:avLst/>
          </a:prstGeom>
          <a:noFill/>
        </p:spPr>
        <p:txBody>
          <a:bodyPr wrap="none">
            <a:spAutoFit/>
          </a:bodyPr>
          <a:lstStyle/>
          <a:p>
            <a:pPr>
              <a:defRPr sz="1600" b="1">
                <a:solidFill>
                  <a:srgbClr val="14243D"/>
                </a:solidFill>
              </a:defRPr>
            </a:pPr>
            <a:r>
              <a:t>Databricks</a:t>
            </a:r>
          </a:p>
        </p:txBody>
      </p:sp>
      <p:sp>
        <p:nvSpPr>
          <p:cNvPr id="28" name="TextBox 27"/>
          <p:cNvSpPr txBox="1"/>
          <p:nvPr/>
        </p:nvSpPr>
        <p:spPr>
          <a:xfrm>
            <a:off x="1024128" y="4142232"/>
            <a:ext cx="2103120" cy="0"/>
          </a:xfrm>
          <a:prstGeom prst="rect">
            <a:avLst/>
          </a:prstGeom>
          <a:noFill/>
        </p:spPr>
        <p:txBody>
          <a:bodyPr wrap="square">
            <a:spAutoFit/>
          </a:bodyPr>
          <a:lstStyle/>
          <a:p>
            <a:pPr>
              <a:defRPr sz="1250">
                <a:solidFill>
                  <a:srgbClr val="2D323A"/>
                </a:solidFill>
              </a:defRPr>
            </a:pPr>
            <a:endParaRPr/>
          </a:p>
        </p:txBody>
      </p:sp>
      <p:sp>
        <p:nvSpPr>
          <p:cNvPr id="29" name="TextBox 28"/>
          <p:cNvSpPr txBox="1"/>
          <p:nvPr/>
        </p:nvSpPr>
        <p:spPr>
          <a:xfrm>
            <a:off x="3520440" y="3621024"/>
            <a:ext cx="7680960" cy="320040"/>
          </a:xfrm>
          <a:prstGeom prst="rect">
            <a:avLst/>
          </a:prstGeom>
          <a:noFill/>
        </p:spPr>
        <p:txBody>
          <a:bodyPr wrap="none">
            <a:spAutoFit/>
          </a:bodyPr>
          <a:lstStyle/>
          <a:p>
            <a:pPr>
              <a:defRPr sz="1400">
                <a:solidFill>
                  <a:srgbClr val="2D323A"/>
                </a:solidFill>
              </a:defRPr>
            </a:pPr>
            <a:r>
              <a:t>REST APIs + PySpark + Lakeflow Declarative Pipelines</a:t>
            </a:r>
          </a:p>
        </p:txBody>
      </p:sp>
      <p:sp>
        <p:nvSpPr>
          <p:cNvPr id="30" name="Rounded Rectangle 29"/>
          <p:cNvSpPr/>
          <p:nvPr/>
        </p:nvSpPr>
        <p:spPr>
          <a:xfrm>
            <a:off x="822960" y="4114800"/>
            <a:ext cx="2468880" cy="4572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22960" y="4114800"/>
            <a:ext cx="73152" cy="4572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4128" y="4279392"/>
            <a:ext cx="2103120" cy="365760"/>
          </a:xfrm>
          <a:prstGeom prst="rect">
            <a:avLst/>
          </a:prstGeom>
          <a:noFill/>
        </p:spPr>
        <p:txBody>
          <a:bodyPr wrap="none">
            <a:spAutoFit/>
          </a:bodyPr>
          <a:lstStyle/>
          <a:p>
            <a:pPr>
              <a:defRPr sz="1600" b="1">
                <a:solidFill>
                  <a:srgbClr val="14243D"/>
                </a:solidFill>
              </a:defRPr>
            </a:pPr>
            <a:r>
              <a:t>Authentication</a:t>
            </a:r>
          </a:p>
        </p:txBody>
      </p:sp>
      <p:sp>
        <p:nvSpPr>
          <p:cNvPr id="33" name="TextBox 32"/>
          <p:cNvSpPr txBox="1"/>
          <p:nvPr/>
        </p:nvSpPr>
        <p:spPr>
          <a:xfrm>
            <a:off x="1024128" y="4709160"/>
            <a:ext cx="2103120" cy="0"/>
          </a:xfrm>
          <a:prstGeom prst="rect">
            <a:avLst/>
          </a:prstGeom>
          <a:noFill/>
        </p:spPr>
        <p:txBody>
          <a:bodyPr wrap="square">
            <a:spAutoFit/>
          </a:bodyPr>
          <a:lstStyle/>
          <a:p>
            <a:pPr>
              <a:defRPr sz="1250">
                <a:solidFill>
                  <a:srgbClr val="2D323A"/>
                </a:solidFill>
              </a:defRPr>
            </a:pPr>
            <a:endParaRPr/>
          </a:p>
        </p:txBody>
      </p:sp>
      <p:sp>
        <p:nvSpPr>
          <p:cNvPr id="34" name="TextBox 33"/>
          <p:cNvSpPr txBox="1"/>
          <p:nvPr/>
        </p:nvSpPr>
        <p:spPr>
          <a:xfrm>
            <a:off x="3520440" y="4187952"/>
            <a:ext cx="7680960" cy="320040"/>
          </a:xfrm>
          <a:prstGeom prst="rect">
            <a:avLst/>
          </a:prstGeom>
          <a:noFill/>
        </p:spPr>
        <p:txBody>
          <a:bodyPr wrap="none">
            <a:spAutoFit/>
          </a:bodyPr>
          <a:lstStyle/>
          <a:p>
            <a:pPr>
              <a:defRPr sz="1400">
                <a:solidFill>
                  <a:srgbClr val="2D323A"/>
                </a:solidFill>
              </a:defRPr>
            </a:pPr>
            <a:r>
              <a:t>APS OAuth 2.0 + Databricks OIDC; optional M2M JWT</a:t>
            </a:r>
          </a:p>
        </p:txBody>
      </p:sp>
      <p:sp>
        <p:nvSpPr>
          <p:cNvPr id="35" name="Rounded Rectangle 34"/>
          <p:cNvSpPr/>
          <p:nvPr/>
        </p:nvSpPr>
        <p:spPr>
          <a:xfrm>
            <a:off x="822960" y="4681727"/>
            <a:ext cx="2468880" cy="4572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22960" y="4681727"/>
            <a:ext cx="73152" cy="4572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24128" y="4846319"/>
            <a:ext cx="2103120" cy="365760"/>
          </a:xfrm>
          <a:prstGeom prst="rect">
            <a:avLst/>
          </a:prstGeom>
          <a:noFill/>
        </p:spPr>
        <p:txBody>
          <a:bodyPr wrap="none">
            <a:spAutoFit/>
          </a:bodyPr>
          <a:lstStyle/>
          <a:p>
            <a:pPr>
              <a:defRPr sz="1600" b="1">
                <a:solidFill>
                  <a:srgbClr val="14243D"/>
                </a:solidFill>
              </a:defRPr>
            </a:pPr>
            <a:r>
              <a:t>Hosting</a:t>
            </a:r>
          </a:p>
        </p:txBody>
      </p:sp>
      <p:sp>
        <p:nvSpPr>
          <p:cNvPr id="38" name="TextBox 37"/>
          <p:cNvSpPr txBox="1"/>
          <p:nvPr/>
        </p:nvSpPr>
        <p:spPr>
          <a:xfrm>
            <a:off x="1024128" y="5276088"/>
            <a:ext cx="2103120" cy="0"/>
          </a:xfrm>
          <a:prstGeom prst="rect">
            <a:avLst/>
          </a:prstGeom>
          <a:noFill/>
        </p:spPr>
        <p:txBody>
          <a:bodyPr wrap="square">
            <a:spAutoFit/>
          </a:bodyPr>
          <a:lstStyle/>
          <a:p>
            <a:pPr>
              <a:defRPr sz="1250">
                <a:solidFill>
                  <a:srgbClr val="2D323A"/>
                </a:solidFill>
              </a:defRPr>
            </a:pPr>
            <a:endParaRPr/>
          </a:p>
        </p:txBody>
      </p:sp>
      <p:sp>
        <p:nvSpPr>
          <p:cNvPr id="39" name="TextBox 38"/>
          <p:cNvSpPr txBox="1"/>
          <p:nvPr/>
        </p:nvSpPr>
        <p:spPr>
          <a:xfrm>
            <a:off x="3520440" y="4754879"/>
            <a:ext cx="7680960" cy="320040"/>
          </a:xfrm>
          <a:prstGeom prst="rect">
            <a:avLst/>
          </a:prstGeom>
          <a:noFill/>
        </p:spPr>
        <p:txBody>
          <a:bodyPr wrap="none">
            <a:spAutoFit/>
          </a:bodyPr>
          <a:lstStyle/>
          <a:p>
            <a:pPr>
              <a:defRPr sz="1400">
                <a:solidFill>
                  <a:srgbClr val="2D323A"/>
                </a:solidFill>
              </a:defRPr>
            </a:pPr>
            <a:r>
              <a:t>EC2 deployment pattern (inferred)</a:t>
            </a:r>
          </a:p>
        </p:txBody>
      </p:sp>
      <p:sp>
        <p:nvSpPr>
          <p:cNvPr id="40" name="Rounded Rectangle 39"/>
          <p:cNvSpPr/>
          <p:nvPr/>
        </p:nvSpPr>
        <p:spPr>
          <a:xfrm>
            <a:off x="822960" y="5248656"/>
            <a:ext cx="2468880" cy="45720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22960" y="5248656"/>
            <a:ext cx="73152" cy="45720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24128" y="5413248"/>
            <a:ext cx="2103120" cy="365760"/>
          </a:xfrm>
          <a:prstGeom prst="rect">
            <a:avLst/>
          </a:prstGeom>
          <a:noFill/>
        </p:spPr>
        <p:txBody>
          <a:bodyPr wrap="none">
            <a:spAutoFit/>
          </a:bodyPr>
          <a:lstStyle/>
          <a:p>
            <a:pPr>
              <a:defRPr sz="1600" b="1">
                <a:solidFill>
                  <a:srgbClr val="14243D"/>
                </a:solidFill>
              </a:defRPr>
            </a:pPr>
            <a:r>
              <a:t>Testing</a:t>
            </a:r>
          </a:p>
        </p:txBody>
      </p:sp>
      <p:sp>
        <p:nvSpPr>
          <p:cNvPr id="43" name="TextBox 42"/>
          <p:cNvSpPr txBox="1"/>
          <p:nvPr/>
        </p:nvSpPr>
        <p:spPr>
          <a:xfrm>
            <a:off x="1024128" y="5843016"/>
            <a:ext cx="2103120" cy="0"/>
          </a:xfrm>
          <a:prstGeom prst="rect">
            <a:avLst/>
          </a:prstGeom>
          <a:noFill/>
        </p:spPr>
        <p:txBody>
          <a:bodyPr wrap="square">
            <a:spAutoFit/>
          </a:bodyPr>
          <a:lstStyle/>
          <a:p>
            <a:pPr>
              <a:defRPr sz="1250">
                <a:solidFill>
                  <a:srgbClr val="2D323A"/>
                </a:solidFill>
              </a:defRPr>
            </a:pPr>
            <a:endParaRPr/>
          </a:p>
        </p:txBody>
      </p:sp>
      <p:sp>
        <p:nvSpPr>
          <p:cNvPr id="44" name="TextBox 43"/>
          <p:cNvSpPr txBox="1"/>
          <p:nvPr/>
        </p:nvSpPr>
        <p:spPr>
          <a:xfrm>
            <a:off x="3520440" y="5321808"/>
            <a:ext cx="7680960" cy="320040"/>
          </a:xfrm>
          <a:prstGeom prst="rect">
            <a:avLst/>
          </a:prstGeom>
          <a:noFill/>
        </p:spPr>
        <p:txBody>
          <a:bodyPr wrap="none">
            <a:spAutoFit/>
          </a:bodyPr>
          <a:lstStyle/>
          <a:p>
            <a:pPr>
              <a:defRPr sz="1400">
                <a:solidFill>
                  <a:srgbClr val="2D323A"/>
                </a:solidFill>
              </a:defRPr>
            </a:pPr>
            <a:r>
              <a:t>Python unittest + node:test + smoke checks</a:t>
            </a:r>
          </a:p>
        </p:txBody>
      </p:sp>
      <p:sp>
        <p:nvSpPr>
          <p:cNvPr id="45" name="TextBox 44"/>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Operational Model</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How long-running operations behave</a:t>
            </a:r>
          </a:p>
        </p:txBody>
      </p:sp>
      <p:sp>
        <p:nvSpPr>
          <p:cNvPr id="5" name="Rounded Rectangle 4"/>
          <p:cNvSpPr/>
          <p:nvPr/>
        </p:nvSpPr>
        <p:spPr>
          <a:xfrm>
            <a:off x="685800" y="1828800"/>
            <a:ext cx="202631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1984248"/>
            <a:ext cx="1880006" cy="502920"/>
          </a:xfrm>
          <a:prstGeom prst="rect">
            <a:avLst/>
          </a:prstGeom>
          <a:noFill/>
        </p:spPr>
        <p:txBody>
          <a:bodyPr wrap="none">
            <a:spAutoFit/>
          </a:bodyPr>
          <a:lstStyle/>
          <a:p>
            <a:pPr algn="ctr">
              <a:defRPr sz="1200" b="1">
                <a:solidFill>
                  <a:srgbClr val="14243D"/>
                </a:solidFill>
              </a:defRPr>
            </a:pPr>
            <a:r>
              <a:t>Request</a:t>
            </a:r>
          </a:p>
        </p:txBody>
      </p:sp>
      <p:sp>
        <p:nvSpPr>
          <p:cNvPr id="7" name="Right Arrow 6"/>
          <p:cNvSpPr/>
          <p:nvPr/>
        </p:nvSpPr>
        <p:spPr>
          <a:xfrm>
            <a:off x="2739542"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76702" y="1828800"/>
            <a:ext cx="202631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9854" y="1984248"/>
            <a:ext cx="1880006" cy="502920"/>
          </a:xfrm>
          <a:prstGeom prst="rect">
            <a:avLst/>
          </a:prstGeom>
          <a:noFill/>
        </p:spPr>
        <p:txBody>
          <a:bodyPr wrap="none">
            <a:spAutoFit/>
          </a:bodyPr>
          <a:lstStyle/>
          <a:p>
            <a:pPr algn="ctr">
              <a:defRPr sz="1200" b="1">
                <a:solidFill>
                  <a:srgbClr val="14243D"/>
                </a:solidFill>
              </a:defRPr>
            </a:pPr>
            <a:r>
              <a:t>Persist run</a:t>
            </a:r>
          </a:p>
        </p:txBody>
      </p:sp>
      <p:sp>
        <p:nvSpPr>
          <p:cNvPr id="10" name="Right Arrow 9"/>
          <p:cNvSpPr/>
          <p:nvPr/>
        </p:nvSpPr>
        <p:spPr>
          <a:xfrm>
            <a:off x="4930444"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67604" y="1828800"/>
            <a:ext cx="202631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40756" y="1984248"/>
            <a:ext cx="1880006" cy="502920"/>
          </a:xfrm>
          <a:prstGeom prst="rect">
            <a:avLst/>
          </a:prstGeom>
          <a:noFill/>
        </p:spPr>
        <p:txBody>
          <a:bodyPr wrap="none">
            <a:spAutoFit/>
          </a:bodyPr>
          <a:lstStyle/>
          <a:p>
            <a:pPr algn="ctr">
              <a:defRPr sz="1200" b="1">
                <a:solidFill>
                  <a:srgbClr val="14243D"/>
                </a:solidFill>
              </a:defRPr>
            </a:pPr>
            <a:r>
              <a:t>Background execution</a:t>
            </a:r>
          </a:p>
        </p:txBody>
      </p:sp>
      <p:sp>
        <p:nvSpPr>
          <p:cNvPr id="13" name="Right Arrow 12"/>
          <p:cNvSpPr/>
          <p:nvPr/>
        </p:nvSpPr>
        <p:spPr>
          <a:xfrm>
            <a:off x="7121347"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258507" y="1828800"/>
            <a:ext cx="202631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31659" y="1984248"/>
            <a:ext cx="1880006" cy="502920"/>
          </a:xfrm>
          <a:prstGeom prst="rect">
            <a:avLst/>
          </a:prstGeom>
          <a:noFill/>
        </p:spPr>
        <p:txBody>
          <a:bodyPr wrap="none">
            <a:spAutoFit/>
          </a:bodyPr>
          <a:lstStyle/>
          <a:p>
            <a:pPr algn="ctr">
              <a:defRPr sz="1200" b="1">
                <a:solidFill>
                  <a:srgbClr val="14243D"/>
                </a:solidFill>
              </a:defRPr>
            </a:pPr>
            <a:r>
              <a:t>Poll status</a:t>
            </a:r>
          </a:p>
        </p:txBody>
      </p:sp>
      <p:sp>
        <p:nvSpPr>
          <p:cNvPr id="16" name="Right Arrow 15"/>
          <p:cNvSpPr/>
          <p:nvPr/>
        </p:nvSpPr>
        <p:spPr>
          <a:xfrm>
            <a:off x="9312249" y="2084832"/>
            <a:ext cx="128015" cy="274320"/>
          </a:xfrm>
          <a:prstGeom prst="rightArrow">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449409" y="1828800"/>
            <a:ext cx="2026310" cy="822960"/>
          </a:xfrm>
          <a:prstGeom prst="roundRect">
            <a:avLst/>
          </a:prstGeom>
          <a:solidFill>
            <a:srgbClr val="F2F6FB"/>
          </a:solidFill>
          <a:ln>
            <a:solidFill>
              <a:srgbClr val="2D6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22561" y="1984248"/>
            <a:ext cx="1880006" cy="502920"/>
          </a:xfrm>
          <a:prstGeom prst="rect">
            <a:avLst/>
          </a:prstGeom>
          <a:noFill/>
        </p:spPr>
        <p:txBody>
          <a:bodyPr wrap="none">
            <a:spAutoFit/>
          </a:bodyPr>
          <a:lstStyle/>
          <a:p>
            <a:pPr algn="ctr">
              <a:defRPr sz="1200" b="1">
                <a:solidFill>
                  <a:srgbClr val="14243D"/>
                </a:solidFill>
              </a:defRPr>
            </a:pPr>
            <a:r>
              <a:t>Commit success</a:t>
            </a:r>
          </a:p>
        </p:txBody>
      </p:sp>
      <p:sp>
        <p:nvSpPr>
          <p:cNvPr id="19" name="TextBox 18"/>
          <p:cNvSpPr txBox="1"/>
          <p:nvPr/>
        </p:nvSpPr>
        <p:spPr>
          <a:xfrm>
            <a:off x="914400" y="3246120"/>
            <a:ext cx="10332720" cy="2011680"/>
          </a:xfrm>
          <a:prstGeom prst="rect">
            <a:avLst/>
          </a:prstGeom>
          <a:noFill/>
        </p:spPr>
        <p:txBody>
          <a:bodyPr wrap="square">
            <a:spAutoFit/>
          </a:bodyPr>
          <a:lstStyle/>
          <a:p>
            <a:pPr>
              <a:spcAft>
                <a:spcPts val="900"/>
              </a:spcAft>
              <a:defRPr sz="1700" b="0">
                <a:solidFill>
                  <a:srgbClr val="2D323A"/>
                </a:solidFill>
              </a:defRPr>
            </a:pPr>
            <a:r>
              <a:t>Bootstrap and sync run asynchronously; the browser polls persisted state instead of holding a long request open.</a:t>
            </a:r>
          </a:p>
          <a:p>
            <a:pPr>
              <a:spcAft>
                <a:spcPts val="900"/>
              </a:spcAft>
              <a:defRPr sz="1700" b="0">
                <a:solidFill>
                  <a:srgbClr val="2D323A"/>
                </a:solidFill>
              </a:defRPr>
            </a:pPr>
            <a:r>
              <a:t>Logs record identifiers such as user_id and run_id while excluding tokens and secrets.</a:t>
            </a:r>
          </a:p>
          <a:p>
            <a:pPr>
              <a:spcAft>
                <a:spcPts val="900"/>
              </a:spcAft>
              <a:defRPr sz="1700" b="0">
                <a:solidFill>
                  <a:srgbClr val="2D323A"/>
                </a:solidFill>
              </a:defRPr>
            </a:pPr>
            <a:r>
              <a:t>Health endpoint exists, but current health checking is shallow and does not verify dependencies.</a:t>
            </a:r>
          </a:p>
        </p:txBody>
      </p:sp>
      <p:sp>
        <p:nvSpPr>
          <p:cNvPr id="20" name="TextBox 19"/>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Strengths of the Current Architecture</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Design choices that support a focused integration product</a:t>
            </a:r>
          </a:p>
        </p:txBody>
      </p:sp>
      <p:sp>
        <p:nvSpPr>
          <p:cNvPr id="5" name="Rounded Rectangle 4"/>
          <p:cNvSpPr/>
          <p:nvPr/>
        </p:nvSpPr>
        <p:spPr>
          <a:xfrm>
            <a:off x="685800" y="1325880"/>
            <a:ext cx="3337560" cy="17830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325880"/>
            <a:ext cx="73152" cy="178308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490472"/>
            <a:ext cx="2971800" cy="365760"/>
          </a:xfrm>
          <a:prstGeom prst="rect">
            <a:avLst/>
          </a:prstGeom>
          <a:noFill/>
        </p:spPr>
        <p:txBody>
          <a:bodyPr wrap="none">
            <a:spAutoFit/>
          </a:bodyPr>
          <a:lstStyle/>
          <a:p>
            <a:pPr>
              <a:defRPr sz="1600" b="1">
                <a:solidFill>
                  <a:srgbClr val="14243D"/>
                </a:solidFill>
              </a:defRPr>
            </a:pPr>
            <a:r>
              <a:t>Data residency</a:t>
            </a:r>
          </a:p>
        </p:txBody>
      </p:sp>
      <p:sp>
        <p:nvSpPr>
          <p:cNvPr id="8" name="TextBox 7"/>
          <p:cNvSpPr txBox="1"/>
          <p:nvPr/>
        </p:nvSpPr>
        <p:spPr>
          <a:xfrm>
            <a:off x="886968" y="1920240"/>
            <a:ext cx="2971800" cy="1051560"/>
          </a:xfrm>
          <a:prstGeom prst="rect">
            <a:avLst/>
          </a:prstGeom>
          <a:noFill/>
        </p:spPr>
        <p:txBody>
          <a:bodyPr wrap="square">
            <a:spAutoFit/>
          </a:bodyPr>
          <a:lstStyle/>
          <a:p>
            <a:pPr>
              <a:defRPr sz="1250">
                <a:solidFill>
                  <a:srgbClr val="2D323A"/>
                </a:solidFill>
              </a:defRPr>
            </a:pPr>
            <a:r>
              <a:t>ACC rows stay in customer Databricks.</a:t>
            </a:r>
          </a:p>
        </p:txBody>
      </p:sp>
      <p:sp>
        <p:nvSpPr>
          <p:cNvPr id="9" name="Rounded Rectangle 8"/>
          <p:cNvSpPr/>
          <p:nvPr/>
        </p:nvSpPr>
        <p:spPr>
          <a:xfrm>
            <a:off x="4480560" y="1325880"/>
            <a:ext cx="3337560" cy="17830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60" y="1325880"/>
            <a:ext cx="73152" cy="178308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8" y="1490472"/>
            <a:ext cx="2971800" cy="365760"/>
          </a:xfrm>
          <a:prstGeom prst="rect">
            <a:avLst/>
          </a:prstGeom>
          <a:noFill/>
        </p:spPr>
        <p:txBody>
          <a:bodyPr wrap="none">
            <a:spAutoFit/>
          </a:bodyPr>
          <a:lstStyle/>
          <a:p>
            <a:pPr>
              <a:defRPr sz="1600" b="1">
                <a:solidFill>
                  <a:srgbClr val="14243D"/>
                </a:solidFill>
              </a:defRPr>
            </a:pPr>
            <a:r>
              <a:t>Idempotency</a:t>
            </a:r>
          </a:p>
        </p:txBody>
      </p:sp>
      <p:sp>
        <p:nvSpPr>
          <p:cNvPr id="12" name="TextBox 11"/>
          <p:cNvSpPr txBox="1"/>
          <p:nvPr/>
        </p:nvSpPr>
        <p:spPr>
          <a:xfrm>
            <a:off x="4681728" y="1920240"/>
            <a:ext cx="2971800" cy="1051560"/>
          </a:xfrm>
          <a:prstGeom prst="rect">
            <a:avLst/>
          </a:prstGeom>
          <a:noFill/>
        </p:spPr>
        <p:txBody>
          <a:bodyPr wrap="square">
            <a:spAutoFit/>
          </a:bodyPr>
          <a:lstStyle/>
          <a:p>
            <a:pPr>
              <a:defRPr sz="1250">
                <a:solidFill>
                  <a:srgbClr val="2D323A"/>
                </a:solidFill>
              </a:defRPr>
            </a:pPr>
            <a:r>
              <a:t>Bootstrap and artifact creation are designed for safe retries.</a:t>
            </a:r>
          </a:p>
        </p:txBody>
      </p:sp>
      <p:sp>
        <p:nvSpPr>
          <p:cNvPr id="13" name="Rounded Rectangle 12"/>
          <p:cNvSpPr/>
          <p:nvPr/>
        </p:nvSpPr>
        <p:spPr>
          <a:xfrm>
            <a:off x="8275320" y="1325880"/>
            <a:ext cx="3337560" cy="17830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75320" y="1325880"/>
            <a:ext cx="73152" cy="178308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76488" y="1490472"/>
            <a:ext cx="2971800" cy="365760"/>
          </a:xfrm>
          <a:prstGeom prst="rect">
            <a:avLst/>
          </a:prstGeom>
          <a:noFill/>
        </p:spPr>
        <p:txBody>
          <a:bodyPr wrap="none">
            <a:spAutoFit/>
          </a:bodyPr>
          <a:lstStyle/>
          <a:p>
            <a:pPr>
              <a:defRPr sz="1600" b="1">
                <a:solidFill>
                  <a:srgbClr val="14243D"/>
                </a:solidFill>
              </a:defRPr>
            </a:pPr>
            <a:r>
              <a:t>Watermark safety</a:t>
            </a:r>
          </a:p>
        </p:txBody>
      </p:sp>
      <p:sp>
        <p:nvSpPr>
          <p:cNvPr id="16" name="TextBox 15"/>
          <p:cNvSpPr txBox="1"/>
          <p:nvPr/>
        </p:nvSpPr>
        <p:spPr>
          <a:xfrm>
            <a:off x="8476488" y="1920240"/>
            <a:ext cx="2971800" cy="1051560"/>
          </a:xfrm>
          <a:prstGeom prst="rect">
            <a:avLst/>
          </a:prstGeom>
          <a:noFill/>
        </p:spPr>
        <p:txBody>
          <a:bodyPr wrap="square">
            <a:spAutoFit/>
          </a:bodyPr>
          <a:lstStyle/>
          <a:p>
            <a:pPr>
              <a:defRPr sz="1250">
                <a:solidFill>
                  <a:srgbClr val="2D323A"/>
                </a:solidFill>
              </a:defRPr>
            </a:pPr>
            <a:r>
              <a:t>Failed syncs do not advance the last-success boundary.</a:t>
            </a:r>
          </a:p>
        </p:txBody>
      </p:sp>
      <p:sp>
        <p:nvSpPr>
          <p:cNvPr id="17" name="Rounded Rectangle 16"/>
          <p:cNvSpPr/>
          <p:nvPr/>
        </p:nvSpPr>
        <p:spPr>
          <a:xfrm>
            <a:off x="685800" y="3566160"/>
            <a:ext cx="3337560" cy="17830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5800" y="3566160"/>
            <a:ext cx="73152" cy="178308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6968" y="3730752"/>
            <a:ext cx="2971800" cy="365760"/>
          </a:xfrm>
          <a:prstGeom prst="rect">
            <a:avLst/>
          </a:prstGeom>
          <a:noFill/>
        </p:spPr>
        <p:txBody>
          <a:bodyPr wrap="none">
            <a:spAutoFit/>
          </a:bodyPr>
          <a:lstStyle/>
          <a:p>
            <a:pPr>
              <a:defRPr sz="1600" b="1">
                <a:solidFill>
                  <a:srgbClr val="14243D"/>
                </a:solidFill>
              </a:defRPr>
            </a:pPr>
            <a:r>
              <a:t>Clear layering</a:t>
            </a:r>
          </a:p>
        </p:txBody>
      </p:sp>
      <p:sp>
        <p:nvSpPr>
          <p:cNvPr id="20" name="TextBox 19"/>
          <p:cNvSpPr txBox="1"/>
          <p:nvPr/>
        </p:nvSpPr>
        <p:spPr>
          <a:xfrm>
            <a:off x="886968" y="4160520"/>
            <a:ext cx="2971800" cy="1051560"/>
          </a:xfrm>
          <a:prstGeom prst="rect">
            <a:avLst/>
          </a:prstGeom>
          <a:noFill/>
        </p:spPr>
        <p:txBody>
          <a:bodyPr wrap="square">
            <a:spAutoFit/>
          </a:bodyPr>
          <a:lstStyle/>
          <a:p>
            <a:pPr>
              <a:defRPr sz="1250">
                <a:solidFill>
                  <a:srgbClr val="2D323A"/>
                </a:solidFill>
              </a:defRPr>
            </a:pPr>
            <a:r>
              <a:t>Routes → services → clients/repositories.</a:t>
            </a:r>
          </a:p>
        </p:txBody>
      </p:sp>
      <p:sp>
        <p:nvSpPr>
          <p:cNvPr id="21" name="Rounded Rectangle 20"/>
          <p:cNvSpPr/>
          <p:nvPr/>
        </p:nvSpPr>
        <p:spPr>
          <a:xfrm>
            <a:off x="4480560" y="3566160"/>
            <a:ext cx="3337560" cy="17830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60" y="3566160"/>
            <a:ext cx="73152" cy="178308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81728" y="3730752"/>
            <a:ext cx="2971800" cy="365760"/>
          </a:xfrm>
          <a:prstGeom prst="rect">
            <a:avLst/>
          </a:prstGeom>
          <a:noFill/>
        </p:spPr>
        <p:txBody>
          <a:bodyPr wrap="none">
            <a:spAutoFit/>
          </a:bodyPr>
          <a:lstStyle/>
          <a:p>
            <a:pPr>
              <a:defRPr sz="1600" b="1">
                <a:solidFill>
                  <a:srgbClr val="14243D"/>
                </a:solidFill>
              </a:defRPr>
            </a:pPr>
            <a:r>
              <a:t>CDC ownership</a:t>
            </a:r>
          </a:p>
        </p:txBody>
      </p:sp>
      <p:sp>
        <p:nvSpPr>
          <p:cNvPr id="24" name="TextBox 23"/>
          <p:cNvSpPr txBox="1"/>
          <p:nvPr/>
        </p:nvSpPr>
        <p:spPr>
          <a:xfrm>
            <a:off x="4681728" y="4160520"/>
            <a:ext cx="2971800" cy="1051560"/>
          </a:xfrm>
          <a:prstGeom prst="rect">
            <a:avLst/>
          </a:prstGeom>
          <a:noFill/>
        </p:spPr>
        <p:txBody>
          <a:bodyPr wrap="square">
            <a:spAutoFit/>
          </a:bodyPr>
          <a:lstStyle/>
          <a:p>
            <a:pPr>
              <a:defRPr sz="1250">
                <a:solidFill>
                  <a:srgbClr val="2D323A"/>
                </a:solidFill>
              </a:defRPr>
            </a:pPr>
            <a:r>
              <a:t>Pipeline/service-group ownership is explicitly checked.</a:t>
            </a:r>
          </a:p>
        </p:txBody>
      </p:sp>
      <p:sp>
        <p:nvSpPr>
          <p:cNvPr id="25" name="Rounded Rectangle 24"/>
          <p:cNvSpPr/>
          <p:nvPr/>
        </p:nvSpPr>
        <p:spPr>
          <a:xfrm>
            <a:off x="8275320" y="3566160"/>
            <a:ext cx="3337560" cy="17830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75320" y="3566160"/>
            <a:ext cx="73152" cy="178308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76488" y="3730752"/>
            <a:ext cx="2971800" cy="365760"/>
          </a:xfrm>
          <a:prstGeom prst="rect">
            <a:avLst/>
          </a:prstGeom>
          <a:noFill/>
        </p:spPr>
        <p:txBody>
          <a:bodyPr wrap="none">
            <a:spAutoFit/>
          </a:bodyPr>
          <a:lstStyle/>
          <a:p>
            <a:pPr>
              <a:defRPr sz="1600" b="1">
                <a:solidFill>
                  <a:srgbClr val="14243D"/>
                </a:solidFill>
              </a:defRPr>
            </a:pPr>
            <a:r>
              <a:t>Credential protection</a:t>
            </a:r>
          </a:p>
        </p:txBody>
      </p:sp>
      <p:sp>
        <p:nvSpPr>
          <p:cNvPr id="28" name="TextBox 27"/>
          <p:cNvSpPr txBox="1"/>
          <p:nvPr/>
        </p:nvSpPr>
        <p:spPr>
          <a:xfrm>
            <a:off x="8476488" y="4160520"/>
            <a:ext cx="2971800" cy="1051560"/>
          </a:xfrm>
          <a:prstGeom prst="rect">
            <a:avLst/>
          </a:prstGeom>
          <a:noFill/>
        </p:spPr>
        <p:txBody>
          <a:bodyPr wrap="square">
            <a:spAutoFit/>
          </a:bodyPr>
          <a:lstStyle/>
          <a:p>
            <a:pPr>
              <a:defRPr sz="1250">
                <a:solidFill>
                  <a:srgbClr val="2D323A"/>
                </a:solidFill>
              </a:defRPr>
            </a:pPr>
            <a:r>
              <a:t>Tokens are encrypted at rest.</a:t>
            </a:r>
          </a:p>
        </p:txBody>
      </p:sp>
      <p:sp>
        <p:nvSpPr>
          <p:cNvPr id="29" name="TextBox 28"/>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Known Risks &amp; Production Hardening</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Repository analysis identifies important gaps that should be addressed before broad production rollout</a:t>
            </a:r>
          </a:p>
        </p:txBody>
      </p:sp>
      <p:sp>
        <p:nvSpPr>
          <p:cNvPr id="5" name="Rounded Rectangle 4"/>
          <p:cNvSpPr/>
          <p:nvPr/>
        </p:nvSpPr>
        <p:spPr>
          <a:xfrm>
            <a:off x="640080" y="1325880"/>
            <a:ext cx="5394960" cy="100584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325880"/>
            <a:ext cx="73152" cy="100584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490472"/>
            <a:ext cx="5029200" cy="365760"/>
          </a:xfrm>
          <a:prstGeom prst="rect">
            <a:avLst/>
          </a:prstGeom>
          <a:noFill/>
        </p:spPr>
        <p:txBody>
          <a:bodyPr wrap="none">
            <a:spAutoFit/>
          </a:bodyPr>
          <a:lstStyle/>
          <a:p>
            <a:pPr>
              <a:defRPr sz="1600" b="1">
                <a:solidFill>
                  <a:srgbClr val="14243D"/>
                </a:solidFill>
              </a:defRPr>
            </a:pPr>
            <a:r>
              <a:t>Critical — token exposure</a:t>
            </a:r>
          </a:p>
        </p:txBody>
      </p:sp>
      <p:sp>
        <p:nvSpPr>
          <p:cNvPr id="8" name="TextBox 7"/>
          <p:cNvSpPr txBox="1"/>
          <p:nvPr/>
        </p:nvSpPr>
        <p:spPr>
          <a:xfrm>
            <a:off x="841247" y="1920240"/>
            <a:ext cx="5029200" cy="274320"/>
          </a:xfrm>
          <a:prstGeom prst="rect">
            <a:avLst/>
          </a:prstGeom>
          <a:noFill/>
        </p:spPr>
        <p:txBody>
          <a:bodyPr wrap="square">
            <a:spAutoFit/>
          </a:bodyPr>
          <a:lstStyle/>
          <a:p>
            <a:pPr>
              <a:defRPr sz="1250">
                <a:solidFill>
                  <a:srgbClr val="2D323A"/>
                </a:solidFill>
              </a:defRPr>
            </a:pPr>
            <a:r>
              <a:t>Active debug endpoint can return a live ACC bearer token. Remove or strictly gate it.</a:t>
            </a:r>
          </a:p>
        </p:txBody>
      </p:sp>
      <p:sp>
        <p:nvSpPr>
          <p:cNvPr id="9" name="Rounded Rectangle 8"/>
          <p:cNvSpPr/>
          <p:nvPr/>
        </p:nvSpPr>
        <p:spPr>
          <a:xfrm>
            <a:off x="640080" y="2514600"/>
            <a:ext cx="5394960" cy="100584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514600"/>
            <a:ext cx="73152" cy="100584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2679192"/>
            <a:ext cx="5029200" cy="365760"/>
          </a:xfrm>
          <a:prstGeom prst="rect">
            <a:avLst/>
          </a:prstGeom>
          <a:noFill/>
        </p:spPr>
        <p:txBody>
          <a:bodyPr wrap="none">
            <a:spAutoFit/>
          </a:bodyPr>
          <a:lstStyle/>
          <a:p>
            <a:pPr>
              <a:defRPr sz="1600" b="1">
                <a:solidFill>
                  <a:srgbClr val="14243D"/>
                </a:solidFill>
              </a:defRPr>
            </a:pPr>
            <a:r>
              <a:t>High — M2M authentication</a:t>
            </a:r>
          </a:p>
        </p:txBody>
      </p:sp>
      <p:sp>
        <p:nvSpPr>
          <p:cNvPr id="12" name="TextBox 11"/>
          <p:cNvSpPr txBox="1"/>
          <p:nvPr/>
        </p:nvSpPr>
        <p:spPr>
          <a:xfrm>
            <a:off x="841247" y="3108960"/>
            <a:ext cx="5029200" cy="274320"/>
          </a:xfrm>
          <a:prstGeom prst="rect">
            <a:avLst/>
          </a:prstGeom>
          <a:noFill/>
        </p:spPr>
        <p:txBody>
          <a:bodyPr wrap="square">
            <a:spAutoFit/>
          </a:bodyPr>
          <a:lstStyle/>
          <a:p>
            <a:pPr>
              <a:defRPr sz="1250">
                <a:solidFill>
                  <a:srgbClr val="2D323A"/>
                </a:solidFill>
              </a:defRPr>
            </a:pPr>
            <a:r>
              <a:t>M2M routes lack session authentication when enabled. Add API key/mTLS/network controls.</a:t>
            </a:r>
          </a:p>
        </p:txBody>
      </p:sp>
      <p:sp>
        <p:nvSpPr>
          <p:cNvPr id="13" name="Rounded Rectangle 12"/>
          <p:cNvSpPr/>
          <p:nvPr/>
        </p:nvSpPr>
        <p:spPr>
          <a:xfrm>
            <a:off x="640080" y="3703320"/>
            <a:ext cx="5394960" cy="100584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3703320"/>
            <a:ext cx="73152" cy="100584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7" y="3867911"/>
            <a:ext cx="5029200" cy="365760"/>
          </a:xfrm>
          <a:prstGeom prst="rect">
            <a:avLst/>
          </a:prstGeom>
          <a:noFill/>
        </p:spPr>
        <p:txBody>
          <a:bodyPr wrap="none">
            <a:spAutoFit/>
          </a:bodyPr>
          <a:lstStyle/>
          <a:p>
            <a:pPr>
              <a:defRPr sz="1600" b="1">
                <a:solidFill>
                  <a:srgbClr val="14243D"/>
                </a:solidFill>
              </a:defRPr>
            </a:pPr>
            <a:r>
              <a:t>High — CI coverage</a:t>
            </a:r>
          </a:p>
        </p:txBody>
      </p:sp>
      <p:sp>
        <p:nvSpPr>
          <p:cNvPr id="16" name="TextBox 15"/>
          <p:cNvSpPr txBox="1"/>
          <p:nvPr/>
        </p:nvSpPr>
        <p:spPr>
          <a:xfrm>
            <a:off x="841247" y="4297680"/>
            <a:ext cx="5029200" cy="274320"/>
          </a:xfrm>
          <a:prstGeom prst="rect">
            <a:avLst/>
          </a:prstGeom>
          <a:noFill/>
        </p:spPr>
        <p:txBody>
          <a:bodyPr wrap="square">
            <a:spAutoFit/>
          </a:bodyPr>
          <a:lstStyle/>
          <a:p>
            <a:pPr>
              <a:defRPr sz="1250">
                <a:solidFill>
                  <a:srgbClr val="2D323A"/>
                </a:solidFill>
              </a:defRPr>
            </a:pPr>
            <a:r>
              <a:t>Primary branch and full unit suites are not covered by current CI workflow.</a:t>
            </a:r>
          </a:p>
        </p:txBody>
      </p:sp>
      <p:sp>
        <p:nvSpPr>
          <p:cNvPr id="17" name="Rounded Rectangle 16"/>
          <p:cNvSpPr/>
          <p:nvPr/>
        </p:nvSpPr>
        <p:spPr>
          <a:xfrm>
            <a:off x="6263640" y="1325880"/>
            <a:ext cx="5303520" cy="100584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1325880"/>
            <a:ext cx="73152" cy="100584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4807" y="1490472"/>
            <a:ext cx="4937759" cy="365760"/>
          </a:xfrm>
          <a:prstGeom prst="rect">
            <a:avLst/>
          </a:prstGeom>
          <a:noFill/>
        </p:spPr>
        <p:txBody>
          <a:bodyPr wrap="none">
            <a:spAutoFit/>
          </a:bodyPr>
          <a:lstStyle/>
          <a:p>
            <a:pPr>
              <a:defRPr sz="1600" b="1">
                <a:solidFill>
                  <a:srgbClr val="14243D"/>
                </a:solidFill>
              </a:defRPr>
            </a:pPr>
            <a:r>
              <a:t>Medium — scheduler model</a:t>
            </a:r>
          </a:p>
        </p:txBody>
      </p:sp>
      <p:sp>
        <p:nvSpPr>
          <p:cNvPr id="20" name="TextBox 19"/>
          <p:cNvSpPr txBox="1"/>
          <p:nvPr/>
        </p:nvSpPr>
        <p:spPr>
          <a:xfrm>
            <a:off x="6464807" y="1920240"/>
            <a:ext cx="4937759" cy="274320"/>
          </a:xfrm>
          <a:prstGeom prst="rect">
            <a:avLst/>
          </a:prstGeom>
          <a:noFill/>
        </p:spPr>
        <p:txBody>
          <a:bodyPr wrap="square">
            <a:spAutoFit/>
          </a:bodyPr>
          <a:lstStyle/>
          <a:p>
            <a:pPr>
              <a:defRPr sz="1250">
                <a:solidFill>
                  <a:srgbClr val="2D323A"/>
                </a:solidFill>
              </a:defRPr>
            </a:pPr>
            <a:r>
              <a:t>In-process CDC timers are not shared across gunicorn workers.</a:t>
            </a:r>
          </a:p>
        </p:txBody>
      </p:sp>
      <p:sp>
        <p:nvSpPr>
          <p:cNvPr id="21" name="Rounded Rectangle 20"/>
          <p:cNvSpPr/>
          <p:nvPr/>
        </p:nvSpPr>
        <p:spPr>
          <a:xfrm>
            <a:off x="6263640" y="2514600"/>
            <a:ext cx="5303520" cy="100584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63640" y="2514600"/>
            <a:ext cx="73152" cy="100584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7" y="2679192"/>
            <a:ext cx="4937759" cy="365760"/>
          </a:xfrm>
          <a:prstGeom prst="rect">
            <a:avLst/>
          </a:prstGeom>
          <a:noFill/>
        </p:spPr>
        <p:txBody>
          <a:bodyPr wrap="none">
            <a:spAutoFit/>
          </a:bodyPr>
          <a:lstStyle/>
          <a:p>
            <a:pPr>
              <a:defRPr sz="1600" b="1">
                <a:solidFill>
                  <a:srgbClr val="14243D"/>
                </a:solidFill>
              </a:defRPr>
            </a:pPr>
            <a:r>
              <a:t>Medium — download path</a:t>
            </a:r>
          </a:p>
        </p:txBody>
      </p:sp>
      <p:sp>
        <p:nvSpPr>
          <p:cNvPr id="24" name="TextBox 23"/>
          <p:cNvSpPr txBox="1"/>
          <p:nvPr/>
        </p:nvSpPr>
        <p:spPr>
          <a:xfrm>
            <a:off x="6464807" y="3108960"/>
            <a:ext cx="4937759" cy="274320"/>
          </a:xfrm>
          <a:prstGeom prst="rect">
            <a:avLst/>
          </a:prstGeom>
          <a:noFill/>
        </p:spPr>
        <p:txBody>
          <a:bodyPr wrap="square">
            <a:spAutoFit/>
          </a:bodyPr>
          <a:lstStyle/>
          <a:p>
            <a:pPr>
              <a:defRPr sz="1250">
                <a:solidFill>
                  <a:srgbClr val="2D323A"/>
                </a:solidFill>
              </a:defRPr>
            </a:pPr>
            <a:r>
              <a:t>Legacy path can stream CSV bytes through Flask and become a bottleneck.</a:t>
            </a:r>
          </a:p>
        </p:txBody>
      </p:sp>
      <p:sp>
        <p:nvSpPr>
          <p:cNvPr id="25" name="Rounded Rectangle 24"/>
          <p:cNvSpPr/>
          <p:nvPr/>
        </p:nvSpPr>
        <p:spPr>
          <a:xfrm>
            <a:off x="6263640" y="3703320"/>
            <a:ext cx="5303520" cy="100584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63640" y="3703320"/>
            <a:ext cx="73152" cy="100584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64807" y="3867911"/>
            <a:ext cx="4937759" cy="365760"/>
          </a:xfrm>
          <a:prstGeom prst="rect">
            <a:avLst/>
          </a:prstGeom>
          <a:noFill/>
        </p:spPr>
        <p:txBody>
          <a:bodyPr wrap="none">
            <a:spAutoFit/>
          </a:bodyPr>
          <a:lstStyle/>
          <a:p>
            <a:pPr>
              <a:defRPr sz="1600" b="1">
                <a:solidFill>
                  <a:srgbClr val="14243D"/>
                </a:solidFill>
              </a:defRPr>
            </a:pPr>
            <a:r>
              <a:t>Medium — scaling</a:t>
            </a:r>
          </a:p>
        </p:txBody>
      </p:sp>
      <p:sp>
        <p:nvSpPr>
          <p:cNvPr id="28" name="TextBox 27"/>
          <p:cNvSpPr txBox="1"/>
          <p:nvPr/>
        </p:nvSpPr>
        <p:spPr>
          <a:xfrm>
            <a:off x="6464807" y="4297680"/>
            <a:ext cx="4937759" cy="274320"/>
          </a:xfrm>
          <a:prstGeom prst="rect">
            <a:avLst/>
          </a:prstGeom>
          <a:noFill/>
        </p:spPr>
        <p:txBody>
          <a:bodyPr wrap="square">
            <a:spAutoFit/>
          </a:bodyPr>
          <a:lstStyle/>
          <a:p>
            <a:pPr>
              <a:defRPr sz="1250">
                <a:solidFill>
                  <a:srgbClr val="2D323A"/>
                </a:solidFill>
              </a:defRPr>
            </a:pPr>
            <a:r>
              <a:t>Single-process model limits horizontal scaling without externalizing state/scheduling.</a:t>
            </a:r>
          </a:p>
        </p:txBody>
      </p:sp>
      <p:sp>
        <p:nvSpPr>
          <p:cNvPr id="29" name="Rounded Rectangle 28"/>
          <p:cNvSpPr/>
          <p:nvPr/>
        </p:nvSpPr>
        <p:spPr>
          <a:xfrm>
            <a:off x="2103120" y="5212080"/>
            <a:ext cx="7955279" cy="64008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103120" y="5212080"/>
            <a:ext cx="73152" cy="64008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04288" y="5376672"/>
            <a:ext cx="7589519" cy="365760"/>
          </a:xfrm>
          <a:prstGeom prst="rect">
            <a:avLst/>
          </a:prstGeom>
          <a:noFill/>
        </p:spPr>
        <p:txBody>
          <a:bodyPr wrap="none">
            <a:spAutoFit/>
          </a:bodyPr>
          <a:lstStyle/>
          <a:p>
            <a:pPr>
              <a:defRPr sz="1600" b="1">
                <a:solidFill>
                  <a:srgbClr val="14243D"/>
                </a:solidFill>
              </a:defRPr>
            </a:pPr>
            <a:r>
              <a:t>Customer-facing limitation</a:t>
            </a:r>
          </a:p>
        </p:txBody>
      </p:sp>
      <p:sp>
        <p:nvSpPr>
          <p:cNvPr id="32" name="TextBox 31"/>
          <p:cNvSpPr txBox="1"/>
          <p:nvPr/>
        </p:nvSpPr>
        <p:spPr>
          <a:xfrm>
            <a:off x="2304288" y="5806440"/>
            <a:ext cx="7589519" cy="0"/>
          </a:xfrm>
          <a:prstGeom prst="rect">
            <a:avLst/>
          </a:prstGeom>
          <a:noFill/>
        </p:spPr>
        <p:txBody>
          <a:bodyPr wrap="square">
            <a:spAutoFit/>
          </a:bodyPr>
          <a:lstStyle/>
          <a:p>
            <a:pPr>
              <a:defRPr sz="1250">
                <a:solidFill>
                  <a:srgbClr val="2D323A"/>
                </a:solidFill>
              </a:defRPr>
            </a:pPr>
            <a:r>
              <a:t>Initial full sync can take over an hour; ACC export limits and Databricks requirements also apply.</a:t>
            </a:r>
          </a:p>
        </p:txBody>
      </p:sp>
      <p:sp>
        <p:nvSpPr>
          <p:cNvPr id="33" name="TextBox 32"/>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85800"/>
          </a:xfrm>
          <a:prstGeom prst="rect">
            <a:avLst/>
          </a:prstGeom>
          <a:noFill/>
        </p:spPr>
        <p:txBody>
          <a:bodyPr wrap="none">
            <a:spAutoFit/>
          </a:bodyPr>
          <a:lstStyle/>
          <a:p>
            <a:pPr>
              <a:defRPr sz="2800" b="1">
                <a:solidFill>
                  <a:srgbClr val="14243D"/>
                </a:solidFill>
              </a:defRPr>
            </a:pPr>
            <a:r>
              <a:t>Scalability &amp; Future Hardening</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69707A"/>
                </a:solidFill>
              </a:defRPr>
            </a:pPr>
            <a:r>
              <a:t>The data plane can scale independently; the control plane is the current constraint</a:t>
            </a:r>
          </a:p>
        </p:txBody>
      </p:sp>
      <p:sp>
        <p:nvSpPr>
          <p:cNvPr id="5" name="TextBox 4"/>
          <p:cNvSpPr txBox="1"/>
          <p:nvPr/>
        </p:nvSpPr>
        <p:spPr>
          <a:xfrm>
            <a:off x="822960" y="1417320"/>
            <a:ext cx="10515600" cy="4480560"/>
          </a:xfrm>
          <a:prstGeom prst="rect">
            <a:avLst/>
          </a:prstGeom>
          <a:noFill/>
        </p:spPr>
        <p:txBody>
          <a:bodyPr wrap="square">
            <a:spAutoFit/>
          </a:bodyPr>
          <a:lstStyle/>
          <a:p>
            <a:pPr>
              <a:spcAft>
                <a:spcPts val="900"/>
              </a:spcAft>
              <a:defRPr sz="1800" b="0">
                <a:solidFill>
                  <a:srgbClr val="2D323A"/>
                </a:solidFill>
              </a:defRPr>
            </a:pPr>
            <a:r>
              <a:t>Pilot / small deployments: vertical scaling is adequate for the current architecture.</a:t>
            </a:r>
          </a:p>
          <a:p>
            <a:pPr>
              <a:spcAft>
                <a:spcPts val="900"/>
              </a:spcAft>
              <a:defRPr sz="1800" b="0">
                <a:solidFill>
                  <a:srgbClr val="2D323A"/>
                </a:solidFill>
              </a:defRPr>
            </a:pPr>
            <a:r>
              <a:t>Horizontal scaling: PostgreSQL, sticky/session strategy, external job queue and external scheduler are needed.</a:t>
            </a:r>
          </a:p>
          <a:p>
            <a:pPr>
              <a:spcAft>
                <a:spcPts val="900"/>
              </a:spcAft>
              <a:defRPr sz="1800" b="0">
                <a:solidFill>
                  <a:srgbClr val="2D323A"/>
                </a:solidFill>
              </a:defRPr>
            </a:pPr>
            <a:r>
              <a:t>Move bulk downloading into Databricks to reduce control-plane bandwidth and memory pressure.</a:t>
            </a:r>
          </a:p>
          <a:p>
            <a:pPr>
              <a:spcAft>
                <a:spcPts val="900"/>
              </a:spcAft>
              <a:defRPr sz="1800" b="0">
                <a:solidFill>
                  <a:srgbClr val="2D323A"/>
                </a:solidFill>
              </a:defRPr>
            </a:pPr>
            <a:r>
              <a:t>Externalize scheduled CDC execution instead of relying on in-process worker timers.</a:t>
            </a:r>
          </a:p>
          <a:p>
            <a:pPr>
              <a:spcAft>
                <a:spcPts val="900"/>
              </a:spcAft>
              <a:defRPr sz="1800" b="0">
                <a:solidFill>
                  <a:srgbClr val="2D323A"/>
                </a:solidFill>
              </a:defRPr>
            </a:pPr>
            <a:r>
              <a:t>Improve observability with metrics, tracing, dependency-aware health checks and alerting.</a:t>
            </a:r>
          </a:p>
          <a:p>
            <a:pPr>
              <a:spcAft>
                <a:spcPts val="900"/>
              </a:spcAft>
              <a:defRPr sz="1800" b="0">
                <a:solidFill>
                  <a:srgbClr val="2D323A"/>
                </a:solidFill>
              </a:defRPr>
            </a:pPr>
            <a:r>
              <a:t>Complete production security and CI hardening before broad rollout.</a:t>
            </a:r>
          </a:p>
        </p:txBody>
      </p:sp>
      <p:sp>
        <p:nvSpPr>
          <p:cNvPr id="6" name="TextBox 5"/>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731520"/>
            <a:ext cx="10607040" cy="914400"/>
          </a:xfrm>
          <a:prstGeom prst="rect">
            <a:avLst/>
          </a:prstGeom>
          <a:noFill/>
        </p:spPr>
        <p:txBody>
          <a:bodyPr wrap="none">
            <a:spAutoFit/>
          </a:bodyPr>
          <a:lstStyle/>
          <a:p>
            <a:pPr>
              <a:defRPr sz="3200" b="1">
                <a:solidFill>
                  <a:srgbClr val="FFFFFF"/>
                </a:solidFill>
              </a:defRPr>
            </a:pPr>
            <a:r>
              <a:t>Customer Takeaway</a:t>
            </a:r>
          </a:p>
        </p:txBody>
      </p:sp>
      <p:sp>
        <p:nvSpPr>
          <p:cNvPr id="4" name="Rounded Rectangle 3"/>
          <p:cNvSpPr/>
          <p:nvPr/>
        </p:nvSpPr>
        <p:spPr>
          <a:xfrm>
            <a:off x="822960" y="1828800"/>
            <a:ext cx="3246120" cy="25603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1828800"/>
            <a:ext cx="73152" cy="2560320"/>
          </a:xfrm>
          <a:prstGeom prst="rect">
            <a:avLst/>
          </a:prstGeom>
          <a:solidFill>
            <a:srgbClr val="2D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8" y="1993392"/>
            <a:ext cx="2880360" cy="365760"/>
          </a:xfrm>
          <a:prstGeom prst="rect">
            <a:avLst/>
          </a:prstGeom>
          <a:noFill/>
        </p:spPr>
        <p:txBody>
          <a:bodyPr wrap="none">
            <a:spAutoFit/>
          </a:bodyPr>
          <a:lstStyle/>
          <a:p>
            <a:pPr>
              <a:defRPr sz="1600" b="1">
                <a:solidFill>
                  <a:srgbClr val="14243D"/>
                </a:solidFill>
              </a:defRPr>
            </a:pPr>
            <a:r>
              <a:t>Simple experience</a:t>
            </a:r>
          </a:p>
        </p:txBody>
      </p:sp>
      <p:sp>
        <p:nvSpPr>
          <p:cNvPr id="7" name="TextBox 6"/>
          <p:cNvSpPr txBox="1"/>
          <p:nvPr/>
        </p:nvSpPr>
        <p:spPr>
          <a:xfrm>
            <a:off x="1024128" y="2423160"/>
            <a:ext cx="2880360" cy="1828799"/>
          </a:xfrm>
          <a:prstGeom prst="rect">
            <a:avLst/>
          </a:prstGeom>
          <a:noFill/>
        </p:spPr>
        <p:txBody>
          <a:bodyPr wrap="square">
            <a:spAutoFit/>
          </a:bodyPr>
          <a:lstStyle/>
          <a:p>
            <a:pPr>
              <a:defRPr sz="1250">
                <a:solidFill>
                  <a:srgbClr val="2D323A"/>
                </a:solidFill>
              </a:defRPr>
            </a:pPr>
            <a:r>
              <a:t>Connect ACC → connect Databricks → provision → sync → analyze.</a:t>
            </a:r>
          </a:p>
        </p:txBody>
      </p:sp>
      <p:sp>
        <p:nvSpPr>
          <p:cNvPr id="8" name="Rounded Rectangle 7"/>
          <p:cNvSpPr/>
          <p:nvPr/>
        </p:nvSpPr>
        <p:spPr>
          <a:xfrm>
            <a:off x="4480560" y="1828800"/>
            <a:ext cx="3246120" cy="25603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80560" y="1828800"/>
            <a:ext cx="73152" cy="2560320"/>
          </a:xfrm>
          <a:prstGeom prst="rect">
            <a:avLst/>
          </a:prstGeom>
          <a:solidFill>
            <a:srgbClr val="37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81728" y="1993392"/>
            <a:ext cx="2880360" cy="365760"/>
          </a:xfrm>
          <a:prstGeom prst="rect">
            <a:avLst/>
          </a:prstGeom>
          <a:noFill/>
        </p:spPr>
        <p:txBody>
          <a:bodyPr wrap="none">
            <a:spAutoFit/>
          </a:bodyPr>
          <a:lstStyle/>
          <a:p>
            <a:pPr>
              <a:defRPr sz="1600" b="1">
                <a:solidFill>
                  <a:srgbClr val="14243D"/>
                </a:solidFill>
              </a:defRPr>
            </a:pPr>
            <a:r>
              <a:t>Strong boundary</a:t>
            </a:r>
          </a:p>
        </p:txBody>
      </p:sp>
      <p:sp>
        <p:nvSpPr>
          <p:cNvPr id="11" name="TextBox 10"/>
          <p:cNvSpPr txBox="1"/>
          <p:nvPr/>
        </p:nvSpPr>
        <p:spPr>
          <a:xfrm>
            <a:off x="4681728" y="2423160"/>
            <a:ext cx="2880360" cy="1828799"/>
          </a:xfrm>
          <a:prstGeom prst="rect">
            <a:avLst/>
          </a:prstGeom>
          <a:noFill/>
        </p:spPr>
        <p:txBody>
          <a:bodyPr wrap="square">
            <a:spAutoFit/>
          </a:bodyPr>
          <a:lstStyle/>
          <a:p>
            <a:pPr>
              <a:defRPr sz="1250">
                <a:solidFill>
                  <a:srgbClr val="2D323A"/>
                </a:solidFill>
              </a:defRPr>
            </a:pPr>
            <a:r>
              <a:t>The connector orchestrates; customer Databricks stores and processes the construction data.</a:t>
            </a:r>
          </a:p>
        </p:txBody>
      </p:sp>
      <p:sp>
        <p:nvSpPr>
          <p:cNvPr id="12" name="Rounded Rectangle 11"/>
          <p:cNvSpPr/>
          <p:nvPr/>
        </p:nvSpPr>
        <p:spPr>
          <a:xfrm>
            <a:off x="8138160" y="1828800"/>
            <a:ext cx="3246120" cy="2560320"/>
          </a:xfrm>
          <a:prstGeom prst="roundRect">
            <a:avLst/>
          </a:prstGeom>
          <a:solidFill>
            <a:srgbClr val="F2F6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38160" y="1828800"/>
            <a:ext cx="73152" cy="256032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39328" y="1993392"/>
            <a:ext cx="2880360" cy="365760"/>
          </a:xfrm>
          <a:prstGeom prst="rect">
            <a:avLst/>
          </a:prstGeom>
          <a:noFill/>
        </p:spPr>
        <p:txBody>
          <a:bodyPr wrap="none">
            <a:spAutoFit/>
          </a:bodyPr>
          <a:lstStyle/>
          <a:p>
            <a:pPr>
              <a:defRPr sz="1600" b="1">
                <a:solidFill>
                  <a:srgbClr val="14243D"/>
                </a:solidFill>
              </a:defRPr>
            </a:pPr>
            <a:r>
              <a:t>Clear path forward</a:t>
            </a:r>
          </a:p>
        </p:txBody>
      </p:sp>
      <p:sp>
        <p:nvSpPr>
          <p:cNvPr id="15" name="TextBox 14"/>
          <p:cNvSpPr txBox="1"/>
          <p:nvPr/>
        </p:nvSpPr>
        <p:spPr>
          <a:xfrm>
            <a:off x="8339328" y="2423160"/>
            <a:ext cx="2880360" cy="1828799"/>
          </a:xfrm>
          <a:prstGeom prst="rect">
            <a:avLst/>
          </a:prstGeom>
          <a:noFill/>
        </p:spPr>
        <p:txBody>
          <a:bodyPr wrap="square">
            <a:spAutoFit/>
          </a:bodyPr>
          <a:lstStyle/>
          <a:p>
            <a:pPr>
              <a:defRPr sz="1250">
                <a:solidFill>
                  <a:srgbClr val="2D323A"/>
                </a:solidFill>
              </a:defRPr>
            </a:pPr>
            <a:r>
              <a:t>Architecture is strong for a focused product, with identified security, observability and scaling hardening work.</a:t>
            </a:r>
          </a:p>
        </p:txBody>
      </p:sp>
      <p:sp>
        <p:nvSpPr>
          <p:cNvPr id="16" name="TextBox 15"/>
          <p:cNvSpPr txBox="1"/>
          <p:nvPr/>
        </p:nvSpPr>
        <p:spPr>
          <a:xfrm>
            <a:off x="914400" y="4983480"/>
            <a:ext cx="10241280" cy="731520"/>
          </a:xfrm>
          <a:prstGeom prst="rect">
            <a:avLst/>
          </a:prstGeom>
          <a:noFill/>
        </p:spPr>
        <p:txBody>
          <a:bodyPr wrap="none">
            <a:spAutoFit/>
          </a:bodyPr>
          <a:lstStyle/>
          <a:p>
            <a:pPr algn="ctr">
              <a:defRPr sz="2100">
                <a:solidFill>
                  <a:srgbClr val="FFFFFF"/>
                </a:solidFill>
              </a:defRPr>
            </a:pPr>
            <a:r>
              <a:t>Goal: make ACC project data continuously available for governed analytics in Databricks.</a:t>
            </a:r>
          </a:p>
        </p:txBody>
      </p:sp>
      <p:sp>
        <p:nvSpPr>
          <p:cNvPr id="17" name="TextBox 16"/>
          <p:cNvSpPr txBox="1"/>
          <p:nvPr/>
        </p:nvSpPr>
        <p:spPr>
          <a:xfrm>
            <a:off x="10789920" y="6446520"/>
            <a:ext cx="914400" cy="228600"/>
          </a:xfrm>
          <a:prstGeom prst="rect">
            <a:avLst/>
          </a:prstGeom>
          <a:noFill/>
        </p:spPr>
        <p:txBody>
          <a:bodyPr wrap="none">
            <a:spAutoFit/>
          </a:bodyPr>
          <a:lstStyle/>
          <a:p>
            <a:pPr algn="r">
              <a:defRPr sz="900">
                <a:solidFill>
                  <a:srgbClr val="69707A"/>
                </a:solidFill>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1000</TotalTime>
  <Words>1368</Words>
  <Application>Microsoft Office PowerPoint</Application>
  <PresentationFormat>Widescreen</PresentationFormat>
  <Paragraphs>176</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Roshan Narode</dc:creator>
  <cp:keywords/>
  <dc:description>generated using python-pptx</dc:description>
  <cp:lastModifiedBy>Roshan Narode</cp:lastModifiedBy>
  <cp:revision>2</cp:revision>
  <dcterms:created xsi:type="dcterms:W3CDTF">2013-01-27T09:14:16Z</dcterms:created>
  <dcterms:modified xsi:type="dcterms:W3CDTF">2026-08-27T06:44:31Z</dcterms:modified>
  <cp:category/>
</cp:coreProperties>
</file>